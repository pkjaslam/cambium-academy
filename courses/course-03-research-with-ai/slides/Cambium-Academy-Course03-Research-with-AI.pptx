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7BC62"/>
                </a:solidFill>
                <a:latin typeface="Verdana"/>
              </a:rPr>
              <a:t>CAMBIUM ACADEMY · COURSE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FBF7EA"/>
                </a:solidFill>
                <a:latin typeface="Georgia"/>
              </a:rPr>
              <a:t>Research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97BC62"/>
                </a:solidFill>
                <a:latin typeface="Georgia"/>
              </a:rPr>
              <a:t>Find real sources. Catch the fake 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A06F"/>
                </a:solidFill>
                <a:latin typeface="Georgia"/>
              </a:rPr>
              <a:t>July 2026 edition. Free forever, no signup. Certificate included when you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Built for everyone who looks things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No code, no jargon, no library science degree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If you have ever asked AI a question and wondered whether to believe it, you are ready.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A browser, 90 minutes, and $0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That is the whole entry fee.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Works with any AI you already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ChatGPT, Claude, Gemini, Perplexity, or whatever is open in the next tab.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Made for a very specific moment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8737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moment an AI answer looks perfect and you have no idea if it is true.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Six skills you will walk away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Tell a grounded answer from a guess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Some AI answers come with receipts. Most do not. You will know which is which.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Verify any claim in about 60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Lateral reading, the same move professional fact-checkers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Catch a fabricated citation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fakes are engineered to look real. You will open them anyway, and know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Use deep research tools without being fooled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8737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 20-source report is a first draft with leads, not a finished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40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Cite honestly and disclose properly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788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When AI helped, you will know what to check and what to say.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355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Stay the smartest thing in the room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6702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Judgment is the one research skill that keeps its value as models improve.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YOUR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Five steps, one certificate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1  Read the lecture slides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6 modules, about 25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7830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2  Clear the 24 flashcards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Quick recall drills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830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3  Play the 3 AI Lab games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Catch fakes with your own 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64408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4  Pass the quiz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20 questions, 14 to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264408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5  Print your certificate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Instantly, ready for LinkedIn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One tip: open your favorite AI in another tab now. This is a doing course, and the whole point is to try these checks on a real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B25C"/>
                </a:solidFill>
                <a:latin typeface="Verdana"/>
              </a:rPr>
              <a:t>MODULE 1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BF7EA"/>
                </a:solidFill>
                <a:latin typeface="Georgia"/>
              </a:rPr>
              <a:t>The trust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97BC62"/>
                </a:solidFill>
                <a:latin typeface="Georgia"/>
              </a:rPr>
              <a:t>The same AI that finds your sources is the biggest new source of fake 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A06F"/>
                </a:solidFill>
                <a:latin typeface="Georgia"/>
              </a:rPr>
              <a:t>Cambium Academy · Course 03 · Research with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1 · THE NUMBER THAT SHOULD STOP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Fabricated references, measured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B98A2D"/>
                </a:solidFill>
                <a:latin typeface="Georgia"/>
              </a:rPr>
              <a:t>1 in 2,828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9631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6B5A"/>
                </a:solidFill>
                <a:latin typeface="Georgia"/>
              </a:rPr>
              <a:t>papers contained a fabricated reference in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830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C5F2D"/>
                </a:solidFill>
                <a:latin typeface="Georgia"/>
              </a:rPr>
              <a:t>1 in 277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49631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6B5A"/>
                </a:solidFill>
                <a:latin typeface="Georgia"/>
              </a:rPr>
              <a:t>papers by early 2026, a roughly 6x rise in three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B98A2D"/>
                </a:solidFill>
                <a:latin typeface="Georgia"/>
              </a:rPr>
              <a:t>2M+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6791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6B5A"/>
                </a:solidFill>
                <a:latin typeface="Georgia"/>
              </a:rPr>
              <a:t>papers scanned in the 2026 Lancet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1546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C5F2D"/>
                </a:solidFill>
                <a:latin typeface="Georgia"/>
              </a:rPr>
              <a:t>97M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86791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6B5A"/>
                </a:solidFill>
                <a:latin typeface="Georgia"/>
              </a:rPr>
              <a:t>citations checked to get these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Dated fact, not a vibe: Lancet, 2026 (reported by STAT News, May 7, 2026). The rise tracks exactly the years AI writing assistants went mainstream.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1 · THE TWIST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The best research tool ever built has one flaw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It finds sources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Real papers, real articles, summarized instantly. That part is genuinely revolutionary.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It also invents sources in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Same tool, same confident tone, and the fakes are formatted exactly like the finds.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You cannot tell them apart by looking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 fabricated reference has a plausible author, a real-sounding journal, and a well-formed DOI.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Speed is not the problem. Trust is. This course is about knowing which answers deserve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1 · THE 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An assistant who never says "I could not find it"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33402F"/>
                </a:solidFill>
                <a:latin typeface="Georgia"/>
              </a:rPr>
              <a:t>“AI is a brilliant, tireless research assistant with one dangerous habit: it would rather hand you something that looks right than admit it found nothing.”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It is not lying, exactly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502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It completes patterns. When the true answer is missing, a plausible-looking answer fills the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gap-filling looks like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416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Fluent, cited, formatted, confident. That is what makes it dangerous.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Your job is not to distrust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330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It is to know which claims are load-bearing, and to check those.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Hold onto this picture. Every technique in the next five modules follows from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1 · 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What this course trains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Get answers with receipts: search-grounded tools that retrieve first and cite as they 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Lateral reading and the SIFT habit: check claims across the web, fast.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Open every citation that matters. Catch the fabricated ones before they catch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Judge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8737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Deep research tools, disclosure, and when checking is worth the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By the end, "the AI said so" will never again be your final answer on anything that matters.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B25C"/>
                </a:solidFill>
                <a:latin typeface="Verdana"/>
              </a:rPr>
              <a:t>MODULE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BF7EA"/>
                </a:solidFill>
                <a:latin typeface="Georgia"/>
              </a:rPr>
              <a:t>Find: receipts, not vibes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97BC62"/>
                </a:solidFill>
                <a:latin typeface="Georgia"/>
              </a:rPr>
              <a:t>Two kinds of AI answers. Only one shows where it got things.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A06F"/>
                </a:solidFill>
                <a:latin typeface="Georgia"/>
              </a:rPr>
              <a:t>Cambium Academy · Course 03 · Research with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2 · THE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Memory answers vs receipt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A plain chatbot answers from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It compresses what it read during training and reconstructs an answer. No live lookup, no links.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A search-grounded tool retrieves, then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It searches the web right now, reads real pages, and cites them as it 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Same question, different trust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memory answer might be right. The grounded answer shows you where to check.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This is the single most useful thing to know about AI research in 2026: ask a tool that shows its receipts.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2 · THE 2026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Tools that show their receipts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Perplexity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Built around search. Every claim in the answer carries a numbered, clickable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783080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ChatGPT with search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Toggles into retrieval mode and links as it writes. The plain mode still answers from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644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Gemini Deep Research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Browses dozens of pages and returns a long, cited report you can audit.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Names and buttons change monthly. The test never does: can you click through to where each claim came from?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2 · THE ONE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Ask for the receipts, out 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33402F"/>
                </a:solidFill>
                <a:latin typeface="Georgia"/>
              </a:rPr>
              <a:t>“"Answer with sources I can click, and if you cannot find a real source for a claim, say so instead of guessing."”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One sentence changes the behavior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502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You are telling it that receipts matter more than fluency.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Grounded tools do this by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416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Plain chatbots will at least flag what they are unsure 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It is not a magic spell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330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It is a standing expectation, the same one you would set with a new assistant.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A link is not proof by itself. Module 3 is about what to do after you get the receipts.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2 · TRY IT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The two-tab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Tab 1: ask a plain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"What did the 2026 Lancet analysis find about fabricated references?" Watch it answer from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Tab 2: ask a grounded tool the same 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Watch it search, then answer with numbered links.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Compare the receipts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Which answer could you hand to a skeptical boss? Which one could you even begin to check?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Sixty seconds, and you will never unsee the difference. This is the AI Lab's first game,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B25C"/>
                </a:solidFill>
                <a:latin typeface="Verdana"/>
              </a:rPr>
              <a:t>MODULE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BF7EA"/>
                </a:solidFill>
                <a:latin typeface="Georgia"/>
              </a:rPr>
              <a:t>Verify: lateral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97BC62"/>
                </a:solidFill>
                <a:latin typeface="Georgia"/>
              </a:rPr>
              <a:t>Stop reading down the page. Start reading across the web.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A06F"/>
                </a:solidFill>
                <a:latin typeface="Georgia"/>
              </a:rPr>
              <a:t>Cambium Academy · Course 03 · Research with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3 · THE UNCOMFORTABLE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Confident, cited, and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Columbia Journalism Review ran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Eight AI search tools, asked to identify the source of real news excerpts.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More than 60% of answers were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Wrong article, wrong outlet, or a link that did not support the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tone never wobbled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wrong answers sounded exactly as confident as the right 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B98A2D"/>
                </a:solidFill>
                <a:latin typeface="Georgia"/>
              </a:rPr>
              <a:t>The lesson is not "never use AI search." It is that confidence and citations are style, not evidence. Verification is a separate step, and it is yours.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3 · THE PROS'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Read across, not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Reading down: the amateur habit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Stay on one page, judge it by its own design, tone, and About page. Slow, and easy to fool.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Reading across: the fact-checker habit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Leave the page. Open a new tab. See what independent sources say about the claim and the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It is faster, not slower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Professional fact-checkers verify in minutes because they never trust a page to grade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This is called lateral reading, and it is the single highest-value research habit of the decade.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3 · THE HABIT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SIFT: four moves,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S  Stop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Before you share, cite, or believe: pause. Do you actually know this source and this claim?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783080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I  Investigate the source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New tab. Who is behind this? What do others say about them? Thirty seconds, not thirty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644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F  Find better coverage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Search the claim itself. Do independent, reliable sources report the same thing?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2644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T  Trace to the original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Follow quotes, stats, and studies upstream to their first appearance. Context changes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SIFT comes from digital literacy researcher Mike Caulfield. It was built for the open web, and it works even better on AI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3 · THE 60-SECOND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One claim, one new tab, one independent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33402F"/>
                </a:solidFill>
                <a:latin typeface="Georgia"/>
              </a:rPr>
              <a:t>“Take the one claim your decision rests on. Open a new tab. Search it. Find one independent source that confirms it, before you build on it.”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Not every claim, just the load-bearing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502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stat in your report, the quote in your post, the number in your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Independent means independent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416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 second AI summarizing the same guess does not count. Find the original, or reliable coverage of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Usually takes less than a minute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330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One opened tab puts you ahead of almost everyone.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You will practice exactly this in the AI Lab's lateral reading race, against the clock.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3 · THE SIGNAL THAT IS NOT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Confidence is not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Wrong answers sound like right 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Polished, structured, sure of itself. The tone never tells you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So decide by cost, not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Wrong movie trivia? Enjoy. Wrong stat in your thesis, your report, your medical question? Verify.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Make it a reflex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High stakes means lateral check. No exceptions, no matter how good the answer looks.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Rule of thumb: the more you want the answer to be true, and the more it costs to be wrong, the more it deserves the 60-second 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B25C"/>
                </a:solidFill>
                <a:latin typeface="Verdana"/>
              </a:rPr>
              <a:t>MODULE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BF7EA"/>
                </a:solidFill>
                <a:latin typeface="Georgia"/>
              </a:rPr>
              <a:t>The citation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97BC62"/>
                </a:solidFill>
                <a:latin typeface="Georgia"/>
              </a:rPr>
              <a:t>The fakes are engineered to pass. Here is how to catch every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A06F"/>
                </a:solidFill>
                <a:latin typeface="Georgia"/>
              </a:rPr>
              <a:t>Cambium Academy · Course 03 · Research with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4 · THE RATES,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How often AI invents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Literature-review tasks, 2026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Frontier models still fabricate 18 to 28% of citations on these tasks. Roughly one in four.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Even the best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Sit at about 3 to 19% depending on the task. Better, and nowhere near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trend is real but slow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Each generation fabricates less. None of them, so far, reliably says "I could not find a source."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B98A2D"/>
                </a:solidFill>
                <a:latin typeface="Georgia"/>
              </a:rPr>
              <a:t>Read that again: in 2026, a careful, state-of-the-art model can still hand you a reference list where one entry in five does not exist.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4 · 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Citation-shaped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model learned what citations look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Author names, a year, a journal, a DOI. A pattern, learned from millions of real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When unsure, it completes the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It does not look up a reference. It generates something citation-shaped that fits the topic.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result is a convincing forgery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Real researcher names on papers they never wrote. Real journals with invented articles. DOIs that resolve to nothing, or to something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Nobody programmed it to deceive. It is doing exactly what it was trained to do: produce plausible text. Plausible is the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4 · KNOW YOUR ENEMY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Anatomy of a fabricated citation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Plausible authors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Often real researchers from the right field, who never wrote this particular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783080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Real-sounding venue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An actual journal, or a perfect pastiche of one. Nothing about the name looks off.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644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A well-formed DOI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Formatted perfectly. It either resolves to a different paper or to nothing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2644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C5F2D"/>
                </a:solidFill>
                <a:latin typeface="Georgia"/>
              </a:rPr>
              <a:t>The right year and pages</a:t>
            </a:r>
          </a:p>
          <a:p>
            <a:r>
              <a:rPr sz="1150">
                <a:solidFill>
                  <a:srgbClr val="5C6B5A"/>
                </a:solidFill>
                <a:latin typeface="Georgia"/>
              </a:rPr>
              <a:t>Every field filled in, every convention followed. It is built to survive a glance.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A fabricated citation is designed, by the statistics of its training, to pass the eyeball test. So the eyeball test is worthless.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4 · 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The only rule in this course written in 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33402F"/>
                </a:solidFill>
                <a:latin typeface="Georgia"/>
              </a:rPr>
              <a:t>“A citation you never opened is a citation you cannot trust.”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Click every reference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502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Does the page exist? Is it the claimed authors, venue, and year?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Then check what it says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416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Existing is not enough. Does the source actually support the claim it was attached 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No exceptions for confident 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330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fakes and the finds are formatted identically. Opening them is the only test that works.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This one habit, applied to just the references you actually rely on, catches essentially every fabricated citation.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4 · THE 3-CLICK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Thirty seconds per citation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Click 1: does it exist?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Paste the title into Google Scholar or the DOI into your browser. No result is your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Click 2: is it what it claims?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Right authors, right journal, right year? Fakes often borrow a real title with the wrong details.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Click 3: does it say what the AI said?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Open the abstract. Does this source actually support the claim it was cited for?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Scale it sensibly: for a quick errand, check the one source that matters. For anything you will publish, submit, or decide on, check them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4 · TRY IT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The niche-topic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Ask any chatbot for three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Pick a genuinely niche topic you know well. Narrow beats famous: fakes cluster where training data is thin.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Open all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Not skim. Open. Scholar for papers, the DOI for articles, the archive for news.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Count what survives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Many people meet their first fabricated citation inside the next five minutes.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This is the AI Lab's signature game: a stack of citations, some real, some fabricated, and your job is to catch every fake.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B25C"/>
                </a:solidFill>
                <a:latin typeface="Verdana"/>
              </a:rPr>
              <a:t>MODULE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BF7EA"/>
                </a:solidFill>
                <a:latin typeface="Georgia"/>
              </a:rPr>
              <a:t>Deep research, and its blind spot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97BC62"/>
                </a:solidFill>
                <a:latin typeface="Georgia"/>
              </a:rPr>
              <a:t>A 20-source report while you get coffee. Read this before you trust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A06F"/>
                </a:solidFill>
                <a:latin typeface="Georgia"/>
              </a:rPr>
              <a:t>Cambium Academy · Course 03 · Research with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5 · THE NEW SUPERPOWER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What deep research agents actually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You ask one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"Compare the evidence on X" or "What is the state of research on Y."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agent browses for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It runs dozens of searches, opens dozens of pages, takes notes, and cross-references.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You get a cited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Pages long, structured, sourced, in minutes. Work that used to take a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This is real, and it is spectacular. ChatGPT, Gemini, Claude, and Perplexity all ship a version of it in 2026. Use them. Then verify like a pro.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5 · THE BLIND SPOT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Polish hides the holes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reports look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Clean sections, formal tone, numbered references. Everything signals "done."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Reference checks say otherwise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2026 studies of deep-research agents keep finding unsupported claims and invented or misattributed sources inside otherwise-good reports.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failure hides in the middle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One weak source among nineteen real ones, wrapped in perfect formatting, is genuinely hard to spot.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B98A2D"/>
                </a:solidFill>
                <a:latin typeface="Georgia"/>
              </a:rPr>
              <a:t>The polish is the trap. A report that looks audited has not been audited. You are the audit.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5 · THE REFRAME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A first draft with leads, not a finished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33402F"/>
                </a:solidFill>
                <a:latin typeface="Georgia"/>
              </a:rPr>
              <a:t>“Treat every deep-research report as a smart first draft assembled by a fast assistant who occasionally pads the bibliography.”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Use it for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502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report finds the terrain, the players, and the candidate sources faster than you ever could.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Do not outsource the 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416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The claims your decision rests on get verified by you, by hand, every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workflow is: generate, then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330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AI does the breadth. You do the depth, exactly where it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People who skip the audit are not doing research with AI. They are doing vibes with citations.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5 · THE ONE HABIT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Spot-check the load-bearing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Find the conclusion's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Which 2 or 3 sources does the report's main claim actually rest on? They are usually easy to spot.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Run the 3-click check on those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Exist? Match? Say what the report says they say? Ten minutes, 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Then decide how far to trust the 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If the foundation holds, the report is a strong draft. If even one foundation source is fake or misread, distrust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This single habit decides whether deep research tools make you faster and right, or just faster.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B25C"/>
                </a:solidFill>
                <a:latin typeface="Verdana"/>
              </a:rPr>
              <a:t>MODULE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BF7EA"/>
                </a:solidFill>
                <a:latin typeface="Georgia"/>
              </a:rPr>
              <a:t>Stay honest, and when to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97BC62"/>
                </a:solidFill>
                <a:latin typeface="Georgia"/>
              </a:rPr>
              <a:t>The last line of defense is not a better model. It is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A06F"/>
                </a:solidFill>
                <a:latin typeface="Georgia"/>
              </a:rPr>
              <a:t>Cambium Academy · Course 03 · Research with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6 · THE DURABLE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Models improve. Judgment compounds.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Every rate in this course will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Fabrication rates fall, grounding improves, new tools ship monthly. Good.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 habits do not expire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Receipts, lateral reading, opening citations, auditing the load-bearing sources. Those work on every model, forever.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Judgment is the moat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Knowing what to check, and being willing to, is the research skill AI cannot replace. It is the one this certificate actually certifies.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The goal was never to distrust AI. It is to be the person whose work survives scrutiny because they checked.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6 · 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Say when AI helped. Know the rules of the room.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There is no single rule, there are 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 class syllabus, a journal's policy, a workplace norm. Each room decides what disclosure it expects.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School and research are strictest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Many journals now require an AI-use statement. Many courses decide assignment by assignment. If unclear, ask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Everywhere, two things 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Never present an unverified AI claim as your own checked work, and never send what you have not read.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Disclosure costs one sentence. A fabricated citation with your name on it can cost a grade, a paper, or a reputation.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6 · THE TRUST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When to just trust 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Low stakes: trust freely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Movie trivia, recipe swaps, brainstorming. Wrong is cheap. Enjoy the speed.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Medium stakes: check the one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An email fact, a purchase decision. Sixty seconds on the load-bearing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High stakes: full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Grades, money, health, law, reputation, anything published. Grounded tools, lateral reading, every citation opened.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Cost decides, not confidence. You already learned every move this table asks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MODULE 6 · THE WHOLE COURSE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The habits that compound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Find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Ask tools that show receipts. Retrieve-then-answer beats answer-from-memory.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Verify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Read laterally. SIFT. One independent source for every load-bearing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Cite 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Open every citation that matters. Three clicks. No exceptions for confident tone.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Judge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8737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Deep research is a first draft. Disclose when AI helped. Let cost decide the depth of the check.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Screenshot this. Four lines, and they will outlive every model name in this course.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SCREENSHOT THIS TOO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The researcher's pocket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Before you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Pick a tool with receipts for anything factual.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When the answer arrives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Find the load-bearing claim. New tab. One independent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Before you cite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Open it. Exists? Matches? Says it? Three clicks.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Before you 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8737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Deep-research report? Audit the 2 or 3 foundation sources. Then disclose what AI did.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40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788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Confidence is style. Receipts are evidence. Cost decides how hard you check.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No tool names in this list, on purpose. Tools rotate. The checklist is permanent.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E9648"/>
                </a:solidFill>
                <a:latin typeface="Verdana"/>
              </a:rPr>
              <a:t>KEEP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D24"/>
                </a:solidFill>
                <a:latin typeface="Georgia"/>
              </a:rPr>
              <a:t>Where to go next, all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SIFT and lateral reading, from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Mike Caulfield's free materials teach the verification habit in depth.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Google Scholar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44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Still the fastest way to confirm a paper exists and find who cited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20"/>
                </a:solidFill>
                <a:latin typeface="Georgia"/>
              </a:rPr>
              <a:t>◆  Your AI's own deep research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593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C6B5A"/>
                </a:solidFill>
                <a:latin typeface="Georgia"/>
              </a:rPr>
              <a:t>Run one real report, then audit it with this course's checklist. The practice is the lesson.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i="1">
                <a:solidFill>
                  <a:srgbClr val="2C5F2D"/>
                </a:solidFill>
                <a:latin typeface="Georgia"/>
              </a:rPr>
              <a:t>All verified this month. The full annotated list lives on the course resources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C6B5A"/>
                </a:solidFill>
                <a:latin typeface="Verdana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7BC62"/>
                </a:solidFill>
                <a:latin typeface="Verdana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BF7EA"/>
                </a:solidFill>
                <a:latin typeface="Georgia"/>
              </a:rPr>
              <a:t>Find well. Verify well. Cite well.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F2DE"/>
                </a:solidFill>
                <a:latin typeface="Georgia"/>
              </a:rPr>
              <a:t>◆  Step 1, the lecture: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090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FE3BF"/>
                </a:solidFill>
                <a:latin typeface="Georgia"/>
              </a:rPr>
              <a:t>You just finished it by reading these slides.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F2DE"/>
                </a:solidFill>
                <a:latin typeface="Georgia"/>
              </a:rPr>
              <a:t>◆  Step 2: clear the 24 flashcards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0050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FE3BF"/>
                </a:solidFill>
                <a:latin typeface="Georgia"/>
              </a:rPr>
              <a:t>They are quick.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F2DE"/>
                </a:solidFill>
                <a:latin typeface="Georgia"/>
              </a:rPr>
              <a:t>◆  Step 3: the 3 AI Lab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9194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FE3BF"/>
                </a:solidFill>
                <a:latin typeface="Georgia"/>
              </a:rPr>
              <a:t>Catch a fabricated citation with your own eyes. It changes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F2DE"/>
                </a:solidFill>
                <a:latin typeface="Georgia"/>
              </a:rPr>
              <a:t>◆  Then the quiz unlocks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8338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FE3BF"/>
                </a:solidFill>
                <a:latin typeface="Georgia"/>
              </a:rPr>
              <a:t>20 questions, 14 to pass, certificate prints on the spot.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A06F"/>
                </a:solidFill>
                <a:latin typeface="Georgia"/>
              </a:rPr>
              <a:t>Cambium Academy · a new course every week · free forever, no signup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FA06F"/>
                </a:solidFill>
                <a:latin typeface="Verdana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
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1554480"/>
            <a:ext cx="10515600" cy="457200"/>
          </a:xfrm>
          <a:prstGeom prst="rect">
            <a:avLst/>
          </a:prstGeom>
          <a:noFill/>
        </p:spPr>
        <p:txBody>
          <a:bodyPr wrap="square">
            <a:spAutoFit/>
          </a:bodyPr>
          <a:lstStyle/>
          <a:p>
            <a:pPr algn="l"/>
            <a:r>
              <a:rPr sz="1500" b="1" i="0">
                <a:solidFill>
                  <a:srgbClr val="97BC62"/>
                </a:solidFill>
                <a:latin typeface="Verdana"/>
              </a:rPr>
              <a:t>CAMBIUM ACADEMY · COURSE 03 · V2</a:t>
            </a:r>
          </a:p>
        </p:txBody>
      </p:sp>
      <p:sp>
        <p:nvSpPr>
          <p:cNvPr id="3" name="TextBox 2"/>
          <p:cNvSpPr txBox="1"/>
          <p:nvPr/>
        </p:nvSpPr>
        <p:spPr>
          <a:xfrm>
            <a:off x="822960" y="2103120"/>
            <a:ext cx="10515600" cy="1463040"/>
          </a:xfrm>
          <a:prstGeom prst="rect">
            <a:avLst/>
          </a:prstGeom>
          <a:noFill/>
        </p:spPr>
        <p:txBody>
          <a:bodyPr wrap="square">
            <a:spAutoFit/>
          </a:bodyPr>
          <a:lstStyle/>
          <a:p>
            <a:pPr algn="l"/>
            <a:r>
              <a:rPr sz="6600" b="1" i="0">
                <a:solidFill>
                  <a:srgbClr val="FBF7EA"/>
                </a:solidFill>
                <a:latin typeface="Georgia"/>
              </a:rPr>
              <a:t>Research with AI</a:t>
            </a:r>
          </a:p>
        </p:txBody>
      </p:sp>
      <p:sp>
        <p:nvSpPr>
          <p:cNvPr id="4" name="TextBox 3"/>
          <p:cNvSpPr txBox="1"/>
          <p:nvPr/>
        </p:nvSpPr>
        <p:spPr>
          <a:xfrm>
            <a:off x="822960" y="3749039"/>
            <a:ext cx="10515600" cy="731520"/>
          </a:xfrm>
          <a:prstGeom prst="rect">
            <a:avLst/>
          </a:prstGeom>
          <a:noFill/>
        </p:spPr>
        <p:txBody>
          <a:bodyPr wrap="square">
            <a:spAutoFit/>
          </a:bodyPr>
          <a:lstStyle/>
          <a:p>
            <a:pPr algn="l"/>
            <a:r>
              <a:rPr sz="2600" b="0" i="1">
                <a:solidFill>
                  <a:srgbClr val="97BC62"/>
                </a:solidFill>
                <a:latin typeface="Georgia"/>
              </a:rPr>
              <a:t>The complete 2026 toolkit. Every instrument, every failure mode, every check.</a:t>
            </a:r>
          </a:p>
        </p:txBody>
      </p:sp>
      <p:sp>
        <p:nvSpPr>
          <p:cNvPr id="5" name="TextBox 4"/>
          <p:cNvSpPr txBox="1"/>
          <p:nvPr/>
        </p:nvSpPr>
        <p:spPr>
          <a:xfrm>
            <a:off x="822960" y="6035040"/>
            <a:ext cx="10515600" cy="457200"/>
          </a:xfrm>
          <a:prstGeom prst="rect">
            <a:avLst/>
          </a:prstGeom>
          <a:noFill/>
        </p:spPr>
        <p:txBody>
          <a:bodyPr wrap="square">
            <a:spAutoFit/>
          </a:bodyPr>
          <a:lstStyle/>
          <a:p>
            <a:pPr algn="l"/>
            <a:r>
              <a:rPr sz="1200" b="0" i="0">
                <a:solidFill>
                  <a:srgbClr val="7FA06F"/>
                </a:solidFill>
                <a:latin typeface="Georgia"/>
              </a:rPr>
              <a:t>July 2026 edition. Free forever, no signup. Certificate included when you pass.</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WELCOME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Built for people who work with evidence</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Researchers, grad students, analysts, and the evidence-curious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If your work rests on what is true, this course is for you.</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No code required, code welcomed</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Every module works without programming. The analysis module goes deeper if you bring R or Python.</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A browser, about three hours, and $0</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Self-paced, progress saves in your browser, certificate at the end.</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Made for one realization</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Most researchers use one chatbot like a better Google. In 2026 there is an entire instrument rack, and every instrument fails differently.</a:t>
            </a:r>
          </a:p>
        </p:txBody>
      </p:sp>
      <p:sp>
        <p:nvSpPr>
          <p:cNvPr id="12" name="TextBox 11"/>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OUTCOMES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What you will walk away with</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Send agents to read the literature while you sleep</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And audit their reports so you never inherit their mistakes.</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Design studies with a tireless methods consultant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Power, sample size, test choice, confounds, before data exists.</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Turn plain English into working analysis</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R, Python, SQL, MATLAB, plus transcription and coding for qualitative work.</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Give your papers eyes, ears, and a voice</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Machine-read figures and field notes; a library that answers questions and talks like a podcast.</a:t>
            </a:r>
          </a:p>
        </p:txBody>
      </p:sp>
      <p:sp>
        <p:nvSpPr>
          <p:cNvPr id="12" name="TextBox 11"/>
          <p:cNvSpPr txBox="1"/>
          <p:nvPr/>
        </p:nvSpPr>
        <p:spPr>
          <a:xfrm>
            <a:off x="914400" y="5440680"/>
            <a:ext cx="10881360" cy="365760"/>
          </a:xfrm>
          <a:prstGeom prst="rect">
            <a:avLst/>
          </a:prstGeom>
          <a:noFill/>
        </p:spPr>
        <p:txBody>
          <a:bodyPr wrap="square">
            <a:spAutoFit/>
          </a:bodyPr>
          <a:lstStyle/>
          <a:p>
            <a:pPr algn="l"/>
            <a:r>
              <a:rPr sz="1700" b="1" i="0">
                <a:solidFill>
                  <a:srgbClr val="1F2A20"/>
                </a:solidFill>
                <a:latin typeface="Georgia"/>
              </a:rPr>
              <a:t>◆  Write, translate, and pre-review like a pro</a:t>
            </a:r>
          </a:p>
        </p:txBody>
      </p:sp>
      <p:sp>
        <p:nvSpPr>
          <p:cNvPr id="13" name="TextBox 12"/>
          <p:cNvSpPr txBox="1"/>
          <p:nvPr/>
        </p:nvSpPr>
        <p:spPr>
          <a:xfrm>
            <a:off x="1234440" y="5788152"/>
            <a:ext cx="10515600" cy="365760"/>
          </a:xfrm>
          <a:prstGeom prst="rect">
            <a:avLst/>
          </a:prstGeom>
          <a:noFill/>
        </p:spPr>
        <p:txBody>
          <a:bodyPr wrap="square">
            <a:spAutoFit/>
          </a:bodyPr>
          <a:lstStyle/>
          <a:p>
            <a:pPr algn="l"/>
            <a:r>
              <a:rPr sz="1350" b="0" i="0">
                <a:solidFill>
                  <a:srgbClr val="5C6B5A"/>
                </a:solidFill>
                <a:latin typeface="Georgia"/>
              </a:rPr>
              <a:t>With the 2026 disclosure rules of Science, Nature, Elsevier, and NIH actually straight.</a:t>
            </a:r>
          </a:p>
        </p:txBody>
      </p:sp>
      <p:sp>
        <p:nvSpPr>
          <p:cNvPr id="14" name="TextBox 13"/>
          <p:cNvSpPr txBox="1"/>
          <p:nvPr/>
        </p:nvSpPr>
        <p:spPr>
          <a:xfrm>
            <a:off x="914400" y="6355080"/>
            <a:ext cx="10881360" cy="365760"/>
          </a:xfrm>
          <a:prstGeom prst="rect">
            <a:avLst/>
          </a:prstGeom>
          <a:noFill/>
        </p:spPr>
        <p:txBody>
          <a:bodyPr wrap="square">
            <a:spAutoFit/>
          </a:bodyPr>
          <a:lstStyle/>
          <a:p>
            <a:pPr algn="l"/>
            <a:r>
              <a:rPr sz="1700" b="1" i="0">
                <a:solidFill>
                  <a:srgbClr val="1F2A20"/>
                </a:solidFill>
                <a:latin typeface="Georgia"/>
              </a:rPr>
              <a:t>◆  Leave with your personal stack</a:t>
            </a:r>
          </a:p>
        </p:txBody>
      </p:sp>
      <p:sp>
        <p:nvSpPr>
          <p:cNvPr id="15" name="TextBox 14"/>
          <p:cNvSpPr txBox="1"/>
          <p:nvPr/>
        </p:nvSpPr>
        <p:spPr>
          <a:xfrm>
            <a:off x="1234440" y="6702552"/>
            <a:ext cx="10515600" cy="365760"/>
          </a:xfrm>
          <a:prstGeom prst="rect">
            <a:avLst/>
          </a:prstGeom>
          <a:noFill/>
        </p:spPr>
        <p:txBody>
          <a:bodyPr wrap="square">
            <a:spAutoFit/>
          </a:bodyPr>
          <a:lstStyle/>
          <a:p>
            <a:pPr algn="l"/>
            <a:r>
              <a:rPr sz="1350" b="0" i="0">
                <a:solidFill>
                  <a:srgbClr val="5C6B5A"/>
                </a:solidFill>
                <a:latin typeface="Georgia"/>
              </a:rPr>
              <a:t>One page: your instrument for every job, free tiers marked, red lines written down.</a:t>
            </a:r>
          </a:p>
        </p:txBody>
      </p:sp>
      <p:sp>
        <p:nvSpPr>
          <p:cNvPr id="16" name="TextBox 15"/>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YOUR PATH</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Five steps, one certificate</a:t>
            </a:r>
          </a:p>
        </p:txBody>
      </p:sp>
      <p:sp>
        <p:nvSpPr>
          <p:cNvPr id="4" name="TextBox 3"/>
          <p:cNvSpPr txBox="1"/>
          <p:nvPr/>
        </p:nvSpPr>
        <p:spPr>
          <a:xfrm>
            <a:off x="640080" y="1783080"/>
            <a:ext cx="3474720" cy="1371600"/>
          </a:xfrm>
          <a:prstGeom prst="rect">
            <a:avLst/>
          </a:prstGeom>
          <a:noFill/>
        </p:spPr>
        <p:txBody>
          <a:bodyPr wrap="square">
            <a:spAutoFit/>
          </a:bodyPr>
          <a:lstStyle/>
          <a:p>
            <a:r>
              <a:rPr sz="1450" b="1">
                <a:solidFill>
                  <a:srgbClr val="2C5F2D"/>
                </a:solidFill>
                <a:latin typeface="Georgia"/>
              </a:rPr>
              <a:t>1  Read the lecture slides</a:t>
            </a:r>
          </a:p>
          <a:p>
            <a:r>
              <a:rPr sz="1150">
                <a:solidFill>
                  <a:srgbClr val="5C6B5A"/>
                </a:solidFill>
                <a:latin typeface="Georgia"/>
              </a:rPr>
              <a:t>10 modules, about 45 min</a:t>
            </a:r>
          </a:p>
        </p:txBody>
      </p:sp>
      <p:sp>
        <p:nvSpPr>
          <p:cNvPr id="5" name="TextBox 4"/>
          <p:cNvSpPr txBox="1"/>
          <p:nvPr/>
        </p:nvSpPr>
        <p:spPr>
          <a:xfrm>
            <a:off x="4389120" y="1783080"/>
            <a:ext cx="3474720" cy="1371600"/>
          </a:xfrm>
          <a:prstGeom prst="rect">
            <a:avLst/>
          </a:prstGeom>
          <a:noFill/>
        </p:spPr>
        <p:txBody>
          <a:bodyPr wrap="square">
            <a:spAutoFit/>
          </a:bodyPr>
          <a:lstStyle/>
          <a:p>
            <a:r>
              <a:rPr sz="1450" b="1">
                <a:solidFill>
                  <a:srgbClr val="2C5F2D"/>
                </a:solidFill>
                <a:latin typeface="Georgia"/>
              </a:rPr>
              <a:t>2  Clear the 24 flashcards</a:t>
            </a:r>
          </a:p>
          <a:p>
            <a:r>
              <a:rPr sz="1150">
                <a:solidFill>
                  <a:srgbClr val="5C6B5A"/>
                </a:solidFill>
                <a:latin typeface="Georgia"/>
              </a:rPr>
              <a:t>Quick recall drills</a:t>
            </a:r>
          </a:p>
        </p:txBody>
      </p:sp>
      <p:sp>
        <p:nvSpPr>
          <p:cNvPr id="6" name="TextBox 5"/>
          <p:cNvSpPr txBox="1"/>
          <p:nvPr/>
        </p:nvSpPr>
        <p:spPr>
          <a:xfrm>
            <a:off x="8138160" y="1783080"/>
            <a:ext cx="3474720" cy="1371600"/>
          </a:xfrm>
          <a:prstGeom prst="rect">
            <a:avLst/>
          </a:prstGeom>
          <a:noFill/>
        </p:spPr>
        <p:txBody>
          <a:bodyPr wrap="square">
            <a:spAutoFit/>
          </a:bodyPr>
          <a:lstStyle/>
          <a:p>
            <a:r>
              <a:rPr sz="1450" b="1">
                <a:solidFill>
                  <a:srgbClr val="2C5F2D"/>
                </a:solidFill>
                <a:latin typeface="Georgia"/>
              </a:rPr>
              <a:t>3  Win the 5 AI Lab games</a:t>
            </a:r>
          </a:p>
          <a:p>
            <a:r>
              <a:rPr sz="1150">
                <a:solidFill>
                  <a:srgbClr val="5C6B5A"/>
                </a:solidFill>
                <a:latin typeface="Georgia"/>
              </a:rPr>
              <a:t>Instruments, prompts, and fakes</a:t>
            </a:r>
          </a:p>
        </p:txBody>
      </p:sp>
      <p:sp>
        <p:nvSpPr>
          <p:cNvPr id="7" name="TextBox 6"/>
          <p:cNvSpPr txBox="1"/>
          <p:nvPr/>
        </p:nvSpPr>
        <p:spPr>
          <a:xfrm>
            <a:off x="640080" y="3264408"/>
            <a:ext cx="3474720" cy="1371600"/>
          </a:xfrm>
          <a:prstGeom prst="rect">
            <a:avLst/>
          </a:prstGeom>
          <a:noFill/>
        </p:spPr>
        <p:txBody>
          <a:bodyPr wrap="square">
            <a:spAutoFit/>
          </a:bodyPr>
          <a:lstStyle/>
          <a:p>
            <a:r>
              <a:rPr sz="1450" b="1">
                <a:solidFill>
                  <a:srgbClr val="2C5F2D"/>
                </a:solidFill>
                <a:latin typeface="Georgia"/>
              </a:rPr>
              <a:t>4  Pass the quiz</a:t>
            </a:r>
          </a:p>
          <a:p>
            <a:r>
              <a:rPr sz="1150">
                <a:solidFill>
                  <a:srgbClr val="5C6B5A"/>
                </a:solidFill>
                <a:latin typeface="Georgia"/>
              </a:rPr>
              <a:t>20 questions, 14 to pass</a:t>
            </a:r>
          </a:p>
        </p:txBody>
      </p:sp>
      <p:sp>
        <p:nvSpPr>
          <p:cNvPr id="8" name="TextBox 7"/>
          <p:cNvSpPr txBox="1"/>
          <p:nvPr/>
        </p:nvSpPr>
        <p:spPr>
          <a:xfrm>
            <a:off x="4389120" y="3264408"/>
            <a:ext cx="3474720" cy="1371600"/>
          </a:xfrm>
          <a:prstGeom prst="rect">
            <a:avLst/>
          </a:prstGeom>
          <a:noFill/>
        </p:spPr>
        <p:txBody>
          <a:bodyPr wrap="square">
            <a:spAutoFit/>
          </a:bodyPr>
          <a:lstStyle/>
          <a:p>
            <a:r>
              <a:rPr sz="1450" b="1">
                <a:solidFill>
                  <a:srgbClr val="2C5F2D"/>
                </a:solidFill>
                <a:latin typeface="Georgia"/>
              </a:rPr>
              <a:t>5  Print your certificate</a:t>
            </a:r>
          </a:p>
          <a:p>
            <a:r>
              <a:rPr sz="1150">
                <a:solidFill>
                  <a:srgbClr val="5C6B5A"/>
                </a:solidFill>
                <a:latin typeface="Georgia"/>
              </a:rPr>
              <a:t>Instantly, ready for LinkedIn</a:t>
            </a:r>
          </a:p>
        </p:txBody>
      </p:sp>
      <p:sp>
        <p:nvSpPr>
          <p:cNvPr id="9" name="TextBox 8"/>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One tip: keep your own current research project in mind the whole way through. Every module ends with a try-it aimed at YOUR work, not a toy example.</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1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The 2026 research stack</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One chatbot is not a research strategy.</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1 · THE BARGAIN, MEASURED</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What an autonomous AI scientist does in a day</a:t>
            </a:r>
          </a:p>
        </p:txBody>
      </p:sp>
      <p:sp>
        <p:nvSpPr>
          <p:cNvPr id="4" name="TextBox 3"/>
          <p:cNvSpPr txBox="1"/>
          <p:nvPr/>
        </p:nvSpPr>
        <p:spPr>
          <a:xfrm>
            <a:off x="640080" y="1783080"/>
            <a:ext cx="5394960" cy="731520"/>
          </a:xfrm>
          <a:prstGeom prst="rect">
            <a:avLst/>
          </a:prstGeom>
          <a:noFill/>
        </p:spPr>
        <p:txBody>
          <a:bodyPr wrap="square">
            <a:spAutoFit/>
          </a:bodyPr>
          <a:lstStyle/>
          <a:p>
            <a:pPr algn="l"/>
            <a:r>
              <a:rPr sz="3400" b="1" i="0">
                <a:solidFill>
                  <a:srgbClr val="B98A2D"/>
                </a:solidFill>
                <a:latin typeface="Georgia"/>
              </a:rPr>
              <a:t>1,500</a:t>
            </a:r>
          </a:p>
        </p:txBody>
      </p:sp>
      <p:sp>
        <p:nvSpPr>
          <p:cNvPr id="5" name="TextBox 4"/>
          <p:cNvSpPr txBox="1"/>
          <p:nvPr/>
        </p:nvSpPr>
        <p:spPr>
          <a:xfrm>
            <a:off x="640080" y="2496312"/>
            <a:ext cx="5394960" cy="457200"/>
          </a:xfrm>
          <a:prstGeom prst="rect">
            <a:avLst/>
          </a:prstGeom>
          <a:noFill/>
        </p:spPr>
        <p:txBody>
          <a:bodyPr wrap="square">
            <a:spAutoFit/>
          </a:bodyPr>
          <a:lstStyle/>
          <a:p>
            <a:pPr algn="l"/>
            <a:r>
              <a:rPr sz="1250" b="0" i="0">
                <a:solidFill>
                  <a:srgbClr val="5C6B5A"/>
                </a:solidFill>
                <a:latin typeface="Georgia"/>
              </a:rPr>
              <a:t>papers processed in a single run of Kosmos, an autonomous research agent</a:t>
            </a:r>
          </a:p>
        </p:txBody>
      </p:sp>
      <p:sp>
        <p:nvSpPr>
          <p:cNvPr id="6" name="TextBox 5"/>
          <p:cNvSpPr txBox="1"/>
          <p:nvPr/>
        </p:nvSpPr>
        <p:spPr>
          <a:xfrm>
            <a:off x="6263640" y="1783080"/>
            <a:ext cx="5394960" cy="731520"/>
          </a:xfrm>
          <a:prstGeom prst="rect">
            <a:avLst/>
          </a:prstGeom>
          <a:noFill/>
        </p:spPr>
        <p:txBody>
          <a:bodyPr wrap="square">
            <a:spAutoFit/>
          </a:bodyPr>
          <a:lstStyle/>
          <a:p>
            <a:pPr algn="l"/>
            <a:r>
              <a:rPr sz="3400" b="1" i="0">
                <a:solidFill>
                  <a:srgbClr val="2C5F2D"/>
                </a:solidFill>
                <a:latin typeface="Georgia"/>
              </a:rPr>
              <a:t>42,000</a:t>
            </a:r>
          </a:p>
        </p:txBody>
      </p:sp>
      <p:sp>
        <p:nvSpPr>
          <p:cNvPr id="7" name="TextBox 6"/>
          <p:cNvSpPr txBox="1"/>
          <p:nvPr/>
        </p:nvSpPr>
        <p:spPr>
          <a:xfrm>
            <a:off x="6263640" y="2496312"/>
            <a:ext cx="5394960" cy="457200"/>
          </a:xfrm>
          <a:prstGeom prst="rect">
            <a:avLst/>
          </a:prstGeom>
          <a:noFill/>
        </p:spPr>
        <p:txBody>
          <a:bodyPr wrap="square">
            <a:spAutoFit/>
          </a:bodyPr>
          <a:lstStyle/>
          <a:p>
            <a:pPr algn="l"/>
            <a:r>
              <a:rPr sz="1250" b="0" i="0">
                <a:solidFill>
                  <a:srgbClr val="5C6B5A"/>
                </a:solidFill>
                <a:latin typeface="Georgia"/>
              </a:rPr>
              <a:t>lines of analysis code written and executed in that same run</a:t>
            </a:r>
          </a:p>
        </p:txBody>
      </p:sp>
      <p:sp>
        <p:nvSpPr>
          <p:cNvPr id="8" name="TextBox 7"/>
          <p:cNvSpPr txBox="1"/>
          <p:nvPr/>
        </p:nvSpPr>
        <p:spPr>
          <a:xfrm>
            <a:off x="640080" y="3154680"/>
            <a:ext cx="5394960" cy="731520"/>
          </a:xfrm>
          <a:prstGeom prst="rect">
            <a:avLst/>
          </a:prstGeom>
          <a:noFill/>
        </p:spPr>
        <p:txBody>
          <a:bodyPr wrap="square">
            <a:spAutoFit/>
          </a:bodyPr>
          <a:lstStyle/>
          <a:p>
            <a:pPr algn="l"/>
            <a:r>
              <a:rPr sz="3400" b="1" i="0">
                <a:solidFill>
                  <a:srgbClr val="B98A2D"/>
                </a:solidFill>
                <a:latin typeface="Georgia"/>
              </a:rPr>
              <a:t>~80%</a:t>
            </a:r>
          </a:p>
        </p:txBody>
      </p:sp>
      <p:sp>
        <p:nvSpPr>
          <p:cNvPr id="9" name="TextBox 8"/>
          <p:cNvSpPr txBox="1"/>
          <p:nvPr/>
        </p:nvSpPr>
        <p:spPr>
          <a:xfrm>
            <a:off x="640080" y="3867912"/>
            <a:ext cx="5394960" cy="457200"/>
          </a:xfrm>
          <a:prstGeom prst="rect">
            <a:avLst/>
          </a:prstGeom>
          <a:noFill/>
        </p:spPr>
        <p:txBody>
          <a:bodyPr wrap="square">
            <a:spAutoFit/>
          </a:bodyPr>
          <a:lstStyle/>
          <a:p>
            <a:pPr algn="l"/>
            <a:r>
              <a:rPr sz="1250" b="0" i="0">
                <a:solidFill>
                  <a:srgbClr val="5C6B5A"/>
                </a:solidFill>
                <a:latin typeface="Georgia"/>
              </a:rPr>
              <a:t>of its findings its own makers estimate hold up under expert review</a:t>
            </a:r>
          </a:p>
        </p:txBody>
      </p:sp>
      <p:sp>
        <p:nvSpPr>
          <p:cNvPr id="10" name="TextBox 9"/>
          <p:cNvSpPr txBox="1"/>
          <p:nvPr/>
        </p:nvSpPr>
        <p:spPr>
          <a:xfrm>
            <a:off x="6263640" y="3154680"/>
            <a:ext cx="5394960" cy="731520"/>
          </a:xfrm>
          <a:prstGeom prst="rect">
            <a:avLst/>
          </a:prstGeom>
          <a:noFill/>
        </p:spPr>
        <p:txBody>
          <a:bodyPr wrap="square">
            <a:spAutoFit/>
          </a:bodyPr>
          <a:lstStyle/>
          <a:p>
            <a:pPr algn="l"/>
            <a:r>
              <a:rPr sz="3400" b="1" i="0">
                <a:solidFill>
                  <a:srgbClr val="2C5F2D"/>
                </a:solidFill>
                <a:latin typeface="Georgia"/>
              </a:rPr>
              <a:t>1 in 5</a:t>
            </a:r>
          </a:p>
        </p:txBody>
      </p:sp>
      <p:sp>
        <p:nvSpPr>
          <p:cNvPr id="11" name="TextBox 10"/>
          <p:cNvSpPr txBox="1"/>
          <p:nvPr/>
        </p:nvSpPr>
        <p:spPr>
          <a:xfrm>
            <a:off x="6263640" y="3867912"/>
            <a:ext cx="5394960" cy="457200"/>
          </a:xfrm>
          <a:prstGeom prst="rect">
            <a:avLst/>
          </a:prstGeom>
          <a:noFill/>
        </p:spPr>
        <p:txBody>
          <a:bodyPr wrap="square">
            <a:spAutoFit/>
          </a:bodyPr>
          <a:lstStyle/>
          <a:p>
            <a:pPr algn="l"/>
            <a:r>
              <a:rPr sz="1250" b="0" i="0">
                <a:solidFill>
                  <a:srgbClr val="5C6B5A"/>
                </a:solidFill>
                <a:latin typeface="Georgia"/>
              </a:rPr>
              <a:t>findings wrong. That is the bargain: months of work in a day, and you are the audit</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Dated fact: Kosmos (Edison Scientific, spun out of the FutureHouse lab), 2026. The point is not this one system. The point is the shape of the deal every AI instrument now offers you.</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1 · THE INSTRUMENT RACK</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Seven instruments, one lab</a:t>
            </a:r>
          </a:p>
        </p:txBody>
      </p:sp>
      <p:sp>
        <p:nvSpPr>
          <p:cNvPr id="4" name="TextBox 3"/>
          <p:cNvSpPr txBox="1"/>
          <p:nvPr/>
        </p:nvSpPr>
        <p:spPr>
          <a:xfrm>
            <a:off x="640080" y="1783080"/>
            <a:ext cx="3474720" cy="1371600"/>
          </a:xfrm>
          <a:prstGeom prst="rect">
            <a:avLst/>
          </a:prstGeom>
          <a:noFill/>
        </p:spPr>
        <p:txBody>
          <a:bodyPr wrap="square">
            <a:spAutoFit/>
          </a:bodyPr>
          <a:lstStyle/>
          <a:p>
            <a:r>
              <a:rPr sz="1450" b="1">
                <a:solidFill>
                  <a:srgbClr val="2C5F2D"/>
                </a:solidFill>
                <a:latin typeface="Georgia"/>
              </a:rPr>
              <a:t>Discover</a:t>
            </a:r>
          </a:p>
          <a:p>
            <a:r>
              <a:rPr sz="1150">
                <a:solidFill>
                  <a:srgbClr val="5C6B5A"/>
                </a:solidFill>
                <a:latin typeface="Georgia"/>
              </a:rPr>
              <a:t>Agents that search, read, and synthesize the literature.</a:t>
            </a:r>
          </a:p>
        </p:txBody>
      </p:sp>
      <p:sp>
        <p:nvSpPr>
          <p:cNvPr id="5" name="TextBox 4"/>
          <p:cNvSpPr txBox="1"/>
          <p:nvPr/>
        </p:nvSpPr>
        <p:spPr>
          <a:xfrm>
            <a:off x="4389120" y="1783080"/>
            <a:ext cx="3474720" cy="1371600"/>
          </a:xfrm>
          <a:prstGeom prst="rect">
            <a:avLst/>
          </a:prstGeom>
          <a:noFill/>
        </p:spPr>
        <p:txBody>
          <a:bodyPr wrap="square">
            <a:spAutoFit/>
          </a:bodyPr>
          <a:lstStyle/>
          <a:p>
            <a:r>
              <a:rPr sz="1450" b="1">
                <a:solidFill>
                  <a:srgbClr val="2C5F2D"/>
                </a:solidFill>
                <a:latin typeface="Georgia"/>
              </a:rPr>
              <a:t>Design</a:t>
            </a:r>
          </a:p>
          <a:p>
            <a:r>
              <a:rPr sz="1150">
                <a:solidFill>
                  <a:srgbClr val="5C6B5A"/>
                </a:solidFill>
                <a:latin typeface="Georgia"/>
              </a:rPr>
              <a:t>A methods consultant for power, tests, and confounds.</a:t>
            </a:r>
          </a:p>
        </p:txBody>
      </p:sp>
      <p:sp>
        <p:nvSpPr>
          <p:cNvPr id="6" name="TextBox 5"/>
          <p:cNvSpPr txBox="1"/>
          <p:nvPr/>
        </p:nvSpPr>
        <p:spPr>
          <a:xfrm>
            <a:off x="8138160" y="1783080"/>
            <a:ext cx="3474720" cy="1371600"/>
          </a:xfrm>
          <a:prstGeom prst="rect">
            <a:avLst/>
          </a:prstGeom>
          <a:noFill/>
        </p:spPr>
        <p:txBody>
          <a:bodyPr wrap="square">
            <a:spAutoFit/>
          </a:bodyPr>
          <a:lstStyle/>
          <a:p>
            <a:r>
              <a:rPr sz="1450" b="1">
                <a:solidFill>
                  <a:srgbClr val="2C5F2D"/>
                </a:solidFill>
                <a:latin typeface="Georgia"/>
              </a:rPr>
              <a:t>Analyze</a:t>
            </a:r>
          </a:p>
          <a:p>
            <a:r>
              <a:rPr sz="1150">
                <a:solidFill>
                  <a:srgbClr val="5C6B5A"/>
                </a:solidFill>
                <a:latin typeface="Georgia"/>
              </a:rPr>
              <a:t>Plain English in, working R/Python/SQL/MATLAB out.</a:t>
            </a:r>
          </a:p>
        </p:txBody>
      </p:sp>
      <p:sp>
        <p:nvSpPr>
          <p:cNvPr id="7" name="TextBox 6"/>
          <p:cNvSpPr txBox="1"/>
          <p:nvPr/>
        </p:nvSpPr>
        <p:spPr>
          <a:xfrm>
            <a:off x="640080" y="3264408"/>
            <a:ext cx="3474720" cy="1371600"/>
          </a:xfrm>
          <a:prstGeom prst="rect">
            <a:avLst/>
          </a:prstGeom>
          <a:noFill/>
        </p:spPr>
        <p:txBody>
          <a:bodyPr wrap="square">
            <a:spAutoFit/>
          </a:bodyPr>
          <a:lstStyle/>
          <a:p>
            <a:r>
              <a:rPr sz="1450" b="1">
                <a:solidFill>
                  <a:srgbClr val="2C5F2D"/>
                </a:solidFill>
                <a:latin typeface="Georgia"/>
              </a:rPr>
              <a:t>See and hear</a:t>
            </a:r>
          </a:p>
          <a:p>
            <a:r>
              <a:rPr sz="1150">
                <a:solidFill>
                  <a:srgbClr val="5C6B5A"/>
                </a:solidFill>
                <a:latin typeface="Georgia"/>
              </a:rPr>
              <a:t>Machine eyes for figures and notebooks; a library that talks.</a:t>
            </a:r>
          </a:p>
        </p:txBody>
      </p:sp>
      <p:sp>
        <p:nvSpPr>
          <p:cNvPr id="8" name="TextBox 7"/>
          <p:cNvSpPr txBox="1"/>
          <p:nvPr/>
        </p:nvSpPr>
        <p:spPr>
          <a:xfrm>
            <a:off x="4389120" y="3264408"/>
            <a:ext cx="3474720" cy="1371600"/>
          </a:xfrm>
          <a:prstGeom prst="rect">
            <a:avLst/>
          </a:prstGeom>
          <a:noFill/>
        </p:spPr>
        <p:txBody>
          <a:bodyPr wrap="square">
            <a:spAutoFit/>
          </a:bodyPr>
          <a:lstStyle/>
          <a:p>
            <a:r>
              <a:rPr sz="1450" b="1">
                <a:solidFill>
                  <a:srgbClr val="2C5F2D"/>
                </a:solidFill>
                <a:latin typeface="Georgia"/>
              </a:rPr>
              <a:t>Write</a:t>
            </a:r>
          </a:p>
          <a:p>
            <a:r>
              <a:rPr sz="1150">
                <a:solidFill>
                  <a:srgbClr val="5C6B5A"/>
                </a:solidFill>
                <a:latin typeface="Georgia"/>
              </a:rPr>
              <a:t>Drafting, translation, grants, and pre-review.</a:t>
            </a:r>
          </a:p>
        </p:txBody>
      </p:sp>
      <p:sp>
        <p:nvSpPr>
          <p:cNvPr id="9" name="TextBox 8"/>
          <p:cNvSpPr txBox="1"/>
          <p:nvPr/>
        </p:nvSpPr>
        <p:spPr>
          <a:xfrm>
            <a:off x="8138160" y="3264408"/>
            <a:ext cx="3474720" cy="1371600"/>
          </a:xfrm>
          <a:prstGeom prst="rect">
            <a:avLst/>
          </a:prstGeom>
          <a:noFill/>
        </p:spPr>
        <p:txBody>
          <a:bodyPr wrap="square">
            <a:spAutoFit/>
          </a:bodyPr>
          <a:lstStyle/>
          <a:p>
            <a:r>
              <a:rPr sz="1450" b="1">
                <a:solidFill>
                  <a:srgbClr val="2C5F2D"/>
                </a:solidFill>
                <a:latin typeface="Georgia"/>
              </a:rPr>
              <a:t>Reproduce and disclose</a:t>
            </a:r>
          </a:p>
          <a:p>
            <a:r>
              <a:rPr sz="1150">
                <a:solidFill>
                  <a:srgbClr val="5C6B5A"/>
                </a:solidFill>
                <a:latin typeface="Georgia"/>
              </a:rPr>
              <a:t>Documentation, real references, and the paper trail.</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Each module hands you one instrument, one measured 2026 fact about where it fails, and the one check that makes it safe.</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1 · THE TWIN RULE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The sentence that governs this course</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“AI supplies speed. You supply trust.”</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Speed is now nearly free</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Reports in minutes, code in seconds, transcription in real time.</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Trust was never free</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Verification is a skill, and it is the one this certificate actually certifies.</a:t>
            </a:r>
          </a:p>
        </p:txBody>
      </p:sp>
      <p:sp>
        <p:nvSpPr>
          <p:cNvPr id="9" name="TextBox 8"/>
          <p:cNvSpPr txBox="1"/>
          <p:nvPr/>
        </p:nvSpPr>
        <p:spPr>
          <a:xfrm>
            <a:off x="914400" y="4983480"/>
            <a:ext cx="10881360" cy="365760"/>
          </a:xfrm>
          <a:prstGeom prst="rect">
            <a:avLst/>
          </a:prstGeom>
          <a:noFill/>
        </p:spPr>
        <p:txBody>
          <a:bodyPr wrap="square">
            <a:spAutoFit/>
          </a:bodyPr>
          <a:lstStyle/>
          <a:p>
            <a:pPr algn="l"/>
            <a:r>
              <a:rPr sz="1700" b="1" i="0">
                <a:solidFill>
                  <a:srgbClr val="1F2A20"/>
                </a:solidFill>
                <a:latin typeface="Georgia"/>
              </a:rPr>
              <a:t>◆  The rack changes monthly, the rule does not</a:t>
            </a:r>
          </a:p>
        </p:txBody>
      </p:sp>
      <p:sp>
        <p:nvSpPr>
          <p:cNvPr id="10" name="TextBox 9"/>
          <p:cNvSpPr txBox="1"/>
          <p:nvPr/>
        </p:nvSpPr>
        <p:spPr>
          <a:xfrm>
            <a:off x="1234440" y="5330952"/>
            <a:ext cx="10515600" cy="365760"/>
          </a:xfrm>
          <a:prstGeom prst="rect">
            <a:avLst/>
          </a:prstGeom>
          <a:noFill/>
        </p:spPr>
        <p:txBody>
          <a:bodyPr wrap="square">
            <a:spAutoFit/>
          </a:bodyPr>
          <a:lstStyle/>
          <a:p>
            <a:pPr algn="l"/>
            <a:r>
              <a:rPr sz="1350" b="0" i="0">
                <a:solidFill>
                  <a:srgbClr val="5C6B5A"/>
                </a:solidFill>
                <a:latin typeface="Georgia"/>
              </a:rPr>
              <a:t>Tools rotate. Judgment compounds.</a:t>
            </a:r>
          </a:p>
        </p:txBody>
      </p:sp>
      <p:sp>
        <p:nvSpPr>
          <p:cNvPr id="11" name="TextBox 10"/>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If you keep one sentence from the next three hours, keep this one.</a:t>
            </a:r>
          </a:p>
        </p:txBody>
      </p:sp>
      <p:sp>
        <p:nvSpPr>
          <p:cNvPr id="12" name="TextBox 11"/>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1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Sort your own week onto the rack</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List your last week's research tasks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Reading, planning, analyzing, writing, formatting, checking.</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Tag each with its instrument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Discover, design, analyze, see-hear, write, reproduce, disclose.</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Find the two you still do fully by hand</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Those two are where this course pays for itself first.</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Keep the list. Module 10 turns it into your personal stack, and that page is your capstone.</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2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Prompting for researchers</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The foundation everything else uses. So it comes first.</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2 · THE RECIPE, UPGRADED FOR SCIENCE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Context. Deliverable. Format. Uncertainty.</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Context: what it cannot guess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Your field, your data, your constraints, what you already tried, what good looks like.</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Deliverable: a job, not a topic</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"Draft a limitations paragraph for THIS design" beats "tell me about limitations."</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Format: the exact shape</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Word limit, structure, citation style, table columns. Cheap to say, transformative to get.</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Uncertainty: demanded, every time</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One standing sentence: "Flag what you are not sure of and what I must verify."</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The fourth line is the researcher's upgrade. It converts a confident narrator into an honest assistant, and it costs you nothing.</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2 · THE STANDING SENTENCE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Demand uncertainty like a colleague would</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“"Flag what you are not sure of, state the assumptions you just made, and tell me what I should verify before relying on this."”</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Why it works</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Models are tuned to be helpful and fluent. An empty answer feels like failure to them, so they fill gaps. This sentence gives permission to show the seams.</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What you get back</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Hedges where hedges belong, assumptions surfaced, and a verification list you would have had to invent yourself.</a:t>
            </a:r>
          </a:p>
        </p:txBody>
      </p:sp>
      <p:sp>
        <p:nvSpPr>
          <p:cNvPr id="9" name="TextBox 8"/>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Paste it into any factual or analytical request for the rest of your career.</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2 · RESEARCHER PATTERNS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Four prompts that earn their keep</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"Act as reviewer 2"</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Attack this abstract: clarity, overclaims, missing limitations. Tireless and shameless, in private.</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"List the assumptions you just made"</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Run after any analysis or summary. The list is where the errors live.</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"Give the opposing interpretation"</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Forces the model off your side of the argument, which is where you are blindest.</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"What would falsify this?"</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The most scientific sentence you can say to a machine.</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Notice none of these are magic words. They are the questions a good committee asks, made cheap.</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2 · THE PERSONA FINDING STILL HOLDS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Roles shape tone, not truth</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"You are a world-class statistician" changes the costume</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Style, vocabulary, confidence: yes. Factual accuracy: measured slightly WORSE in testing.</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For facts and stats, ask plainly</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Plain question, full context, demanded uncertainty.</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Save personas for voice</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"Explain this to a first-year cohort" is a legitimate style instruction.</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Carried from Course 02, where the 2026 evidence is walked through slide by slide.</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2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Resurrect your worst AI answer</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Find a recent AI answer that disappointed you</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Everyone has one from this week.</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Rerun it with the recipe</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Context, exact deliverable, format, and the standing uncertainty sentence.</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Diff the two answers</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The delta is the skill. It typically takes under two minutes to apply.</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3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Discover: the literature pipeline</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Search. Map. Send the agents. Keep it alive.</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3 · THE PIPELINE, IN ORDER OF EFFORT</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Four gears, lowest to highest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Gear 1: search-grounded Q&amp;A</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A quick cited answer with clickable receipts. Minutes of your attention.</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Gear 2: citation maps</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See a field's neighborhood around one seed paper. Coffee-break scale.</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Gear 3: deep research agents</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A synthesized, cited report from dozens of sources. Run it and walk away.</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Gear 4: standing alerts</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The review that keeps updating itself after you stop looking.</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Most researchers only ever use gear 1, and use it like a search engine. The next slides hand you the other three.</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3 · GEAR 2: THE MAPS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Citation mapping tools (July 2026)</a:t>
            </a:r>
          </a:p>
        </p:txBody>
      </p:sp>
      <p:sp>
        <p:nvSpPr>
          <p:cNvPr id="4" name="TextBox 3"/>
          <p:cNvSpPr txBox="1"/>
          <p:nvPr/>
        </p:nvSpPr>
        <p:spPr>
          <a:xfrm>
            <a:off x="640080" y="1783080"/>
            <a:ext cx="5349240" cy="1371600"/>
          </a:xfrm>
          <a:prstGeom prst="rect">
            <a:avLst/>
          </a:prstGeom>
          <a:noFill/>
        </p:spPr>
        <p:txBody>
          <a:bodyPr wrap="square">
            <a:spAutoFit/>
          </a:bodyPr>
          <a:lstStyle/>
          <a:p>
            <a:r>
              <a:rPr sz="1450" b="1">
                <a:solidFill>
                  <a:srgbClr val="2C5F2D"/>
                </a:solidFill>
                <a:latin typeface="Georgia"/>
              </a:rPr>
              <a:t>Connected Papers</a:t>
            </a:r>
          </a:p>
          <a:p>
            <a:r>
              <a:rPr sz="1150">
                <a:solidFill>
                  <a:srgbClr val="5C6B5A"/>
                </a:solidFill>
                <a:latin typeface="Georgia"/>
              </a:rPr>
              <a:t>Drop in one seed paper, get a visual similarity graph of its neighborhood, including papers that never cite each other.</a:t>
            </a:r>
          </a:p>
        </p:txBody>
      </p:sp>
      <p:sp>
        <p:nvSpPr>
          <p:cNvPr id="5" name="TextBox 4"/>
          <p:cNvSpPr txBox="1"/>
          <p:nvPr/>
        </p:nvSpPr>
        <p:spPr>
          <a:xfrm>
            <a:off x="6263640" y="1783080"/>
            <a:ext cx="5349240" cy="1371600"/>
          </a:xfrm>
          <a:prstGeom prst="rect">
            <a:avLst/>
          </a:prstGeom>
          <a:noFill/>
        </p:spPr>
        <p:txBody>
          <a:bodyPr wrap="square">
            <a:spAutoFit/>
          </a:bodyPr>
          <a:lstStyle/>
          <a:p>
            <a:r>
              <a:rPr sz="1450" b="1">
                <a:solidFill>
                  <a:srgbClr val="2C5F2D"/>
                </a:solidFill>
                <a:latin typeface="Georgia"/>
              </a:rPr>
              <a:t>ResearchRabbit</a:t>
            </a:r>
          </a:p>
          <a:p>
            <a:r>
              <a:rPr sz="1150">
                <a:solidFill>
                  <a:srgbClr val="5C6B5A"/>
                </a:solidFill>
                <a:latin typeface="Georgia"/>
              </a:rPr>
              <a:t>Chain recommendations interactively: semantic similarity plus citations, with alerts as collections grow.</a:t>
            </a:r>
          </a:p>
        </p:txBody>
      </p:sp>
      <p:sp>
        <p:nvSpPr>
          <p:cNvPr id="6" name="TextBox 5"/>
          <p:cNvSpPr txBox="1"/>
          <p:nvPr/>
        </p:nvSpPr>
        <p:spPr>
          <a:xfrm>
            <a:off x="640080" y="3264408"/>
            <a:ext cx="5349240" cy="1371600"/>
          </a:xfrm>
          <a:prstGeom prst="rect">
            <a:avLst/>
          </a:prstGeom>
          <a:noFill/>
        </p:spPr>
        <p:txBody>
          <a:bodyPr wrap="square">
            <a:spAutoFit/>
          </a:bodyPr>
          <a:lstStyle/>
          <a:p>
            <a:r>
              <a:rPr sz="1450" b="1">
                <a:solidFill>
                  <a:srgbClr val="2C5F2D"/>
                </a:solidFill>
                <a:latin typeface="Georgia"/>
              </a:rPr>
              <a:t>Litmaps</a:t>
            </a:r>
          </a:p>
          <a:p>
            <a:r>
              <a:rPr sz="1150">
                <a:solidFill>
                  <a:srgbClr val="5C6B5A"/>
                </a:solidFill>
                <a:latin typeface="Georgia"/>
              </a:rPr>
              <a:t>A living map over 260M+ papers (Crossref, Semantic Scholar, OpenAlex), sorted by date and citations.</a:t>
            </a:r>
          </a:p>
        </p:txBody>
      </p:sp>
      <p:sp>
        <p:nvSpPr>
          <p:cNvPr id="7" name="TextBox 6"/>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The workflow: one good seed paper in, one afternoon of reading list out. The map shows you the adjacent method community you did not know existed.</a:t>
            </a:r>
          </a:p>
        </p:txBody>
      </p:sp>
      <p:sp>
        <p:nvSpPr>
          <p:cNvPr id="8" name="TextBox 7"/>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3 · GEAR 3: THE AGENTS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Deep research agents, measured</a:t>
            </a:r>
          </a:p>
        </p:txBody>
      </p:sp>
      <p:sp>
        <p:nvSpPr>
          <p:cNvPr id="4" name="TextBox 3"/>
          <p:cNvSpPr txBox="1"/>
          <p:nvPr/>
        </p:nvSpPr>
        <p:spPr>
          <a:xfrm>
            <a:off x="640080" y="1783080"/>
            <a:ext cx="5394960" cy="731520"/>
          </a:xfrm>
          <a:prstGeom prst="rect">
            <a:avLst/>
          </a:prstGeom>
          <a:noFill/>
        </p:spPr>
        <p:txBody>
          <a:bodyPr wrap="square">
            <a:spAutoFit/>
          </a:bodyPr>
          <a:lstStyle/>
          <a:p>
            <a:pPr algn="l"/>
            <a:r>
              <a:rPr sz="3400" b="1" i="0">
                <a:solidFill>
                  <a:srgbClr val="B98A2D"/>
                </a:solidFill>
                <a:latin typeface="Georgia"/>
              </a:rPr>
              <a:t>50-200</a:t>
            </a:r>
          </a:p>
        </p:txBody>
      </p:sp>
      <p:sp>
        <p:nvSpPr>
          <p:cNvPr id="5" name="TextBox 4"/>
          <p:cNvSpPr txBox="1"/>
          <p:nvPr/>
        </p:nvSpPr>
        <p:spPr>
          <a:xfrm>
            <a:off x="640080" y="2496312"/>
            <a:ext cx="5394960" cy="457200"/>
          </a:xfrm>
          <a:prstGeom prst="rect">
            <a:avLst/>
          </a:prstGeom>
          <a:noFill/>
        </p:spPr>
        <p:txBody>
          <a:bodyPr wrap="square">
            <a:spAutoFit/>
          </a:bodyPr>
          <a:lstStyle/>
          <a:p>
            <a:pPr algn="l"/>
            <a:r>
              <a:rPr sz="1250" b="0" i="0">
                <a:solidFill>
                  <a:srgbClr val="5C6B5A"/>
                </a:solidFill>
                <a:latin typeface="Georgia"/>
              </a:rPr>
              <a:t>sources per run, OpenAI Deep Research (10 to 30 minutes)</a:t>
            </a:r>
          </a:p>
        </p:txBody>
      </p:sp>
      <p:sp>
        <p:nvSpPr>
          <p:cNvPr id="6" name="TextBox 5"/>
          <p:cNvSpPr txBox="1"/>
          <p:nvPr/>
        </p:nvSpPr>
        <p:spPr>
          <a:xfrm>
            <a:off x="6263640" y="1783080"/>
            <a:ext cx="5394960" cy="731520"/>
          </a:xfrm>
          <a:prstGeom prst="rect">
            <a:avLst/>
          </a:prstGeom>
          <a:noFill/>
        </p:spPr>
        <p:txBody>
          <a:bodyPr wrap="square">
            <a:spAutoFit/>
          </a:bodyPr>
          <a:lstStyle/>
          <a:p>
            <a:pPr algn="l"/>
            <a:r>
              <a:rPr sz="3400" b="1" i="0">
                <a:solidFill>
                  <a:srgbClr val="2C5F2D"/>
                </a:solidFill>
                <a:latin typeface="Georgia"/>
              </a:rPr>
              <a:t>30-150</a:t>
            </a:r>
          </a:p>
        </p:txBody>
      </p:sp>
      <p:sp>
        <p:nvSpPr>
          <p:cNvPr id="7" name="TextBox 6"/>
          <p:cNvSpPr txBox="1"/>
          <p:nvPr/>
        </p:nvSpPr>
        <p:spPr>
          <a:xfrm>
            <a:off x="6263640" y="2496312"/>
            <a:ext cx="5394960" cy="457200"/>
          </a:xfrm>
          <a:prstGeom prst="rect">
            <a:avLst/>
          </a:prstGeom>
          <a:noFill/>
        </p:spPr>
        <p:txBody>
          <a:bodyPr wrap="square">
            <a:spAutoFit/>
          </a:bodyPr>
          <a:lstStyle/>
          <a:p>
            <a:pPr algn="l"/>
            <a:r>
              <a:rPr sz="1250" b="0" i="0">
                <a:solidFill>
                  <a:srgbClr val="5C6B5A"/>
                </a:solidFill>
                <a:latin typeface="Georgia"/>
              </a:rPr>
              <a:t>sources per run, Gemini Deep Research (5 to 15 minutes)</a:t>
            </a:r>
          </a:p>
        </p:txBody>
      </p:sp>
      <p:sp>
        <p:nvSpPr>
          <p:cNvPr id="8" name="TextBox 7"/>
          <p:cNvSpPr txBox="1"/>
          <p:nvPr/>
        </p:nvSpPr>
        <p:spPr>
          <a:xfrm>
            <a:off x="640080" y="3154680"/>
            <a:ext cx="5394960" cy="731520"/>
          </a:xfrm>
          <a:prstGeom prst="rect">
            <a:avLst/>
          </a:prstGeom>
          <a:noFill/>
        </p:spPr>
        <p:txBody>
          <a:bodyPr wrap="square">
            <a:spAutoFit/>
          </a:bodyPr>
          <a:lstStyle/>
          <a:p>
            <a:pPr algn="l"/>
            <a:r>
              <a:rPr sz="3400" b="1" i="0">
                <a:solidFill>
                  <a:srgbClr val="B98A2D"/>
                </a:solidFill>
                <a:latin typeface="Georgia"/>
              </a:rPr>
              <a:t>20-100</a:t>
            </a:r>
          </a:p>
        </p:txBody>
      </p:sp>
      <p:sp>
        <p:nvSpPr>
          <p:cNvPr id="9" name="TextBox 8"/>
          <p:cNvSpPr txBox="1"/>
          <p:nvPr/>
        </p:nvSpPr>
        <p:spPr>
          <a:xfrm>
            <a:off x="640080" y="3867912"/>
            <a:ext cx="5394960" cy="457200"/>
          </a:xfrm>
          <a:prstGeom prst="rect">
            <a:avLst/>
          </a:prstGeom>
          <a:noFill/>
        </p:spPr>
        <p:txBody>
          <a:bodyPr wrap="square">
            <a:spAutoFit/>
          </a:bodyPr>
          <a:lstStyle/>
          <a:p>
            <a:pPr algn="l"/>
            <a:r>
              <a:rPr sz="1250" b="0" i="0">
                <a:solidFill>
                  <a:srgbClr val="5C6B5A"/>
                </a:solidFill>
                <a:latin typeface="Georgia"/>
              </a:rPr>
              <a:t>sources, Claude Research: fewer sources, deeper synthesis per source</a:t>
            </a:r>
          </a:p>
        </p:txBody>
      </p:sp>
      <p:sp>
        <p:nvSpPr>
          <p:cNvPr id="10" name="TextBox 9"/>
          <p:cNvSpPr txBox="1"/>
          <p:nvPr/>
        </p:nvSpPr>
        <p:spPr>
          <a:xfrm>
            <a:off x="6263640" y="3154680"/>
            <a:ext cx="5394960" cy="731520"/>
          </a:xfrm>
          <a:prstGeom prst="rect">
            <a:avLst/>
          </a:prstGeom>
          <a:noFill/>
        </p:spPr>
        <p:txBody>
          <a:bodyPr wrap="square">
            <a:spAutoFit/>
          </a:bodyPr>
          <a:lstStyle/>
          <a:p>
            <a:pPr algn="l"/>
            <a:r>
              <a:rPr sz="3400" b="1" i="0">
                <a:solidFill>
                  <a:srgbClr val="2C5F2D"/>
                </a:solidFill>
                <a:latin typeface="Georgia"/>
              </a:rPr>
              <a:t>Free tier</a:t>
            </a:r>
          </a:p>
        </p:txBody>
      </p:sp>
      <p:sp>
        <p:nvSpPr>
          <p:cNvPr id="11" name="TextBox 10"/>
          <p:cNvSpPr txBox="1"/>
          <p:nvPr/>
        </p:nvSpPr>
        <p:spPr>
          <a:xfrm>
            <a:off x="6263640" y="3867912"/>
            <a:ext cx="5394960" cy="457200"/>
          </a:xfrm>
          <a:prstGeom prst="rect">
            <a:avLst/>
          </a:prstGeom>
          <a:noFill/>
        </p:spPr>
        <p:txBody>
          <a:bodyPr wrap="square">
            <a:spAutoFit/>
          </a:bodyPr>
          <a:lstStyle/>
          <a:p>
            <a:pPr algn="l"/>
            <a:r>
              <a:rPr sz="1250" b="0" i="0">
                <a:solidFill>
                  <a:srgbClr val="5C6B5A"/>
                </a:solidFill>
                <a:latin typeface="Georgia"/>
              </a:rPr>
              <a:t>exists: Perplexity runs limited deep research runs at $0</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Every major AI now ships one. You describe the question; it plans, searches, reads, cross-references, and writes a cited report while you do something better with your time.</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3 · THE ACADEMIC SPECIALISTS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Why Elicit and Undermind beat the generalists here</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They search closed, verified paper databases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Not the open web. The corpus is published research, so citations resolve by construction.</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They speak researcher</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Screening columns, effect extraction, PRISMA-style workflows, exportable tables.</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The generalists still matter</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For breadth beyond papers: policy, preprints, datasets, news, code.</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Rule of thumb: literature review means academic agent first, generalist second. Everything else means the reverse.</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3 · THE AGENT-REPORT RULE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A first draft with leads</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“Treat every agent report as a smart first draft assembled by a fast assistant who occasionally pads the bibliography.”</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The polish is the trap</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Clean sections and numbered references SIGNAL audited. Nothing was audited.</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The audit is one habit</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Find the 2 or 3 sources the conclusion actually rests on. Three-click each one.</a:t>
            </a:r>
          </a:p>
        </p:txBody>
      </p:sp>
      <p:sp>
        <p:nvSpPr>
          <p:cNvPr id="9" name="TextBox 8"/>
          <p:cNvSpPr txBox="1"/>
          <p:nvPr/>
        </p:nvSpPr>
        <p:spPr>
          <a:xfrm>
            <a:off x="914400" y="4983480"/>
            <a:ext cx="10881360" cy="365760"/>
          </a:xfrm>
          <a:prstGeom prst="rect">
            <a:avLst/>
          </a:prstGeom>
          <a:noFill/>
        </p:spPr>
        <p:txBody>
          <a:bodyPr wrap="square">
            <a:spAutoFit/>
          </a:bodyPr>
          <a:lstStyle/>
          <a:p>
            <a:pPr algn="l"/>
            <a:r>
              <a:rPr sz="1700" b="1" i="0">
                <a:solidFill>
                  <a:srgbClr val="1F2A20"/>
                </a:solidFill>
                <a:latin typeface="Georgia"/>
              </a:rPr>
              <a:t>◆  Then set the alert</a:t>
            </a:r>
          </a:p>
        </p:txBody>
      </p:sp>
      <p:sp>
        <p:nvSpPr>
          <p:cNvPr id="10" name="TextBox 9"/>
          <p:cNvSpPr txBox="1"/>
          <p:nvPr/>
        </p:nvSpPr>
        <p:spPr>
          <a:xfrm>
            <a:off x="1234440" y="5330952"/>
            <a:ext cx="10515600" cy="365760"/>
          </a:xfrm>
          <a:prstGeom prst="rect">
            <a:avLst/>
          </a:prstGeom>
          <a:noFill/>
        </p:spPr>
        <p:txBody>
          <a:bodyPr wrap="square">
            <a:spAutoFit/>
          </a:bodyPr>
          <a:lstStyle/>
          <a:p>
            <a:pPr algn="l"/>
            <a:r>
              <a:rPr sz="1350" b="0" i="0">
                <a:solidFill>
                  <a:srgbClr val="5C6B5A"/>
                </a:solidFill>
                <a:latin typeface="Georgia"/>
              </a:rPr>
              <a:t>Turn the finished question into a standing search so the answer stays current.</a:t>
            </a:r>
          </a:p>
        </p:txBody>
      </p:sp>
      <p:sp>
        <p:nvSpPr>
          <p:cNvPr id="11" name="TextBox 10"/>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Carried from the trust module ahead, because it is the single habit that makes gear 3 safe.</a:t>
            </a:r>
          </a:p>
        </p:txBody>
      </p:sp>
      <p:sp>
        <p:nvSpPr>
          <p:cNvPr id="12" name="TextBox 11"/>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3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The two-agent shootout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Pick a question from your actual research</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Narrow beats broad for this test.</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Run it through one generalist agent and Elicit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Same wording, both barrels.</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Count sources that survive a click</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Existence, correct venue, actually says it. The difference IS the lesson.</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4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Trust: the citation trap</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The same machine that finds truth at scale manufactures the appearance of truth at scale.</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4 · THE NUMBERS THAT JUSTIFY THIS MODULE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Fabrication, measured at scale</a:t>
            </a:r>
          </a:p>
        </p:txBody>
      </p:sp>
      <p:sp>
        <p:nvSpPr>
          <p:cNvPr id="4" name="TextBox 3"/>
          <p:cNvSpPr txBox="1"/>
          <p:nvPr/>
        </p:nvSpPr>
        <p:spPr>
          <a:xfrm>
            <a:off x="640080" y="1783080"/>
            <a:ext cx="5394960" cy="731520"/>
          </a:xfrm>
          <a:prstGeom prst="rect">
            <a:avLst/>
          </a:prstGeom>
          <a:noFill/>
        </p:spPr>
        <p:txBody>
          <a:bodyPr wrap="square">
            <a:spAutoFit/>
          </a:bodyPr>
          <a:lstStyle/>
          <a:p>
            <a:pPr algn="l"/>
            <a:r>
              <a:rPr sz="3400" b="1" i="0">
                <a:solidFill>
                  <a:srgbClr val="B98A2D"/>
                </a:solidFill>
                <a:latin typeface="Georgia"/>
              </a:rPr>
              <a:t>1 in 277</a:t>
            </a:r>
          </a:p>
        </p:txBody>
      </p:sp>
      <p:sp>
        <p:nvSpPr>
          <p:cNvPr id="5" name="TextBox 4"/>
          <p:cNvSpPr txBox="1"/>
          <p:nvPr/>
        </p:nvSpPr>
        <p:spPr>
          <a:xfrm>
            <a:off x="640080" y="2496312"/>
            <a:ext cx="5394960" cy="457200"/>
          </a:xfrm>
          <a:prstGeom prst="rect">
            <a:avLst/>
          </a:prstGeom>
          <a:noFill/>
        </p:spPr>
        <p:txBody>
          <a:bodyPr wrap="square">
            <a:spAutoFit/>
          </a:bodyPr>
          <a:lstStyle/>
          <a:p>
            <a:pPr algn="l"/>
            <a:r>
              <a:rPr sz="1250" b="0" i="0">
                <a:solidFill>
                  <a:srgbClr val="5C6B5A"/>
                </a:solidFill>
                <a:latin typeface="Georgia"/>
              </a:rPr>
              <a:t>papers contained a fabricated reference by early 2026, up ~6x in three years (Lancet analysis, 2M+ papers, 97M citations)</a:t>
            </a:r>
          </a:p>
        </p:txBody>
      </p:sp>
      <p:sp>
        <p:nvSpPr>
          <p:cNvPr id="6" name="TextBox 5"/>
          <p:cNvSpPr txBox="1"/>
          <p:nvPr/>
        </p:nvSpPr>
        <p:spPr>
          <a:xfrm>
            <a:off x="6263640" y="1783080"/>
            <a:ext cx="5394960" cy="731520"/>
          </a:xfrm>
          <a:prstGeom prst="rect">
            <a:avLst/>
          </a:prstGeom>
          <a:noFill/>
        </p:spPr>
        <p:txBody>
          <a:bodyPr wrap="square">
            <a:spAutoFit/>
          </a:bodyPr>
          <a:lstStyle/>
          <a:p>
            <a:pPr algn="l"/>
            <a:r>
              <a:rPr sz="3400" b="1" i="0">
                <a:solidFill>
                  <a:srgbClr val="2C5F2D"/>
                </a:solidFill>
                <a:latin typeface="Georgia"/>
              </a:rPr>
              <a:t>60%+</a:t>
            </a:r>
          </a:p>
        </p:txBody>
      </p:sp>
      <p:sp>
        <p:nvSpPr>
          <p:cNvPr id="7" name="TextBox 6"/>
          <p:cNvSpPr txBox="1"/>
          <p:nvPr/>
        </p:nvSpPr>
        <p:spPr>
          <a:xfrm>
            <a:off x="6263640" y="2496312"/>
            <a:ext cx="5394960" cy="457200"/>
          </a:xfrm>
          <a:prstGeom prst="rect">
            <a:avLst/>
          </a:prstGeom>
          <a:noFill/>
        </p:spPr>
        <p:txBody>
          <a:bodyPr wrap="square">
            <a:spAutoFit/>
          </a:bodyPr>
          <a:lstStyle/>
          <a:p>
            <a:pPr algn="l"/>
            <a:r>
              <a:rPr sz="1250" b="0" i="0">
                <a:solidFill>
                  <a:srgbClr val="5C6B5A"/>
                </a:solidFill>
                <a:latin typeface="Georgia"/>
              </a:rPr>
              <a:t>of news-citation queries answered WRONG by AI search tools in Columbia Journalism Review's test, in a fully confident tone</a:t>
            </a:r>
          </a:p>
        </p:txBody>
      </p:sp>
      <p:sp>
        <p:nvSpPr>
          <p:cNvPr id="8" name="TextBox 7"/>
          <p:cNvSpPr txBox="1"/>
          <p:nvPr/>
        </p:nvSpPr>
        <p:spPr>
          <a:xfrm>
            <a:off x="640080" y="3154680"/>
            <a:ext cx="5394960" cy="731520"/>
          </a:xfrm>
          <a:prstGeom prst="rect">
            <a:avLst/>
          </a:prstGeom>
          <a:noFill/>
        </p:spPr>
        <p:txBody>
          <a:bodyPr wrap="square">
            <a:spAutoFit/>
          </a:bodyPr>
          <a:lstStyle/>
          <a:p>
            <a:pPr algn="l"/>
            <a:r>
              <a:rPr sz="3400" b="1" i="0">
                <a:solidFill>
                  <a:srgbClr val="B98A2D"/>
                </a:solidFill>
                <a:latin typeface="Georgia"/>
              </a:rPr>
              <a:t>18-28%</a:t>
            </a:r>
          </a:p>
        </p:txBody>
      </p:sp>
      <p:sp>
        <p:nvSpPr>
          <p:cNvPr id="9" name="TextBox 8"/>
          <p:cNvSpPr txBox="1"/>
          <p:nvPr/>
        </p:nvSpPr>
        <p:spPr>
          <a:xfrm>
            <a:off x="640080" y="3867912"/>
            <a:ext cx="5394960" cy="457200"/>
          </a:xfrm>
          <a:prstGeom prst="rect">
            <a:avLst/>
          </a:prstGeom>
          <a:noFill/>
        </p:spPr>
        <p:txBody>
          <a:bodyPr wrap="square">
            <a:spAutoFit/>
          </a:bodyPr>
          <a:lstStyle/>
          <a:p>
            <a:pPr algn="l"/>
            <a:r>
              <a:rPr sz="1250" b="0" i="0">
                <a:solidFill>
                  <a:srgbClr val="5C6B5A"/>
                </a:solidFill>
                <a:latin typeface="Georgia"/>
              </a:rPr>
              <a:t>of citations fabricated by frontier models on literature-review tasks in 2026 benchmarks</a:t>
            </a:r>
          </a:p>
        </p:txBody>
      </p:sp>
      <p:sp>
        <p:nvSpPr>
          <p:cNvPr id="10" name="TextBox 9"/>
          <p:cNvSpPr txBox="1"/>
          <p:nvPr/>
        </p:nvSpPr>
        <p:spPr>
          <a:xfrm>
            <a:off x="6263640" y="3154680"/>
            <a:ext cx="5394960" cy="731520"/>
          </a:xfrm>
          <a:prstGeom prst="rect">
            <a:avLst/>
          </a:prstGeom>
          <a:noFill/>
        </p:spPr>
        <p:txBody>
          <a:bodyPr wrap="square">
            <a:spAutoFit/>
          </a:bodyPr>
          <a:lstStyle/>
          <a:p>
            <a:pPr algn="l"/>
            <a:r>
              <a:rPr sz="3400" b="1" i="0">
                <a:solidFill>
                  <a:srgbClr val="2C5F2D"/>
                </a:solidFill>
                <a:latin typeface="Georgia"/>
              </a:rPr>
              <a:t>3 clicks</a:t>
            </a:r>
          </a:p>
        </p:txBody>
      </p:sp>
      <p:sp>
        <p:nvSpPr>
          <p:cNvPr id="11" name="TextBox 10"/>
          <p:cNvSpPr txBox="1"/>
          <p:nvPr/>
        </p:nvSpPr>
        <p:spPr>
          <a:xfrm>
            <a:off x="6263640" y="3867912"/>
            <a:ext cx="5394960" cy="457200"/>
          </a:xfrm>
          <a:prstGeom prst="rect">
            <a:avLst/>
          </a:prstGeom>
          <a:noFill/>
        </p:spPr>
        <p:txBody>
          <a:bodyPr wrap="square">
            <a:spAutoFit/>
          </a:bodyPr>
          <a:lstStyle/>
          <a:p>
            <a:pPr algn="l"/>
            <a:r>
              <a:rPr sz="1250" b="0" i="0">
                <a:solidFill>
                  <a:srgbClr val="5C6B5A"/>
                </a:solidFill>
                <a:latin typeface="Georgia"/>
              </a:rPr>
              <a:t>is all it takes to catch essentially every fake: exists, matches, says it</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These four numbers are why "the AI said so" is never a final answer in this course.</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4 · WHY FAKES PASS THE EYEBALL TEST</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Citation-shaped text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Models learned what a citation looks like</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Plausible authors, real-sounding journal, well-formed DOI, sensible pages.</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When unsure, they complete the pattern</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No lookup happens. A convincing forgery fills the slot.</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So the glance is worthless</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The fakes are optimized, by their training, to survive exactly the check most people apply.</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Nobody programmed deception. Plausible text is the product, and that is precisely the problem.</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4 · THE VERIFICATION KIT</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Read across, not down</a:t>
            </a:r>
          </a:p>
        </p:txBody>
      </p:sp>
      <p:sp>
        <p:nvSpPr>
          <p:cNvPr id="4" name="TextBox 3"/>
          <p:cNvSpPr txBox="1"/>
          <p:nvPr/>
        </p:nvSpPr>
        <p:spPr>
          <a:xfrm>
            <a:off x="640080" y="1783080"/>
            <a:ext cx="5349240" cy="1371600"/>
          </a:xfrm>
          <a:prstGeom prst="rect">
            <a:avLst/>
          </a:prstGeom>
          <a:noFill/>
        </p:spPr>
        <p:txBody>
          <a:bodyPr wrap="square">
            <a:spAutoFit/>
          </a:bodyPr>
          <a:lstStyle/>
          <a:p>
            <a:r>
              <a:rPr sz="1450" b="1">
                <a:solidFill>
                  <a:srgbClr val="2C5F2D"/>
                </a:solidFill>
                <a:latin typeface="Georgia"/>
              </a:rPr>
              <a:t>S  Stop</a:t>
            </a:r>
          </a:p>
          <a:p>
            <a:r>
              <a:rPr sz="1150">
                <a:solidFill>
                  <a:srgbClr val="5C6B5A"/>
                </a:solidFill>
                <a:latin typeface="Georgia"/>
              </a:rPr>
              <a:t>Do you actually know this source and this claim?</a:t>
            </a:r>
          </a:p>
        </p:txBody>
      </p:sp>
      <p:sp>
        <p:nvSpPr>
          <p:cNvPr id="5" name="TextBox 4"/>
          <p:cNvSpPr txBox="1"/>
          <p:nvPr/>
        </p:nvSpPr>
        <p:spPr>
          <a:xfrm>
            <a:off x="6263640" y="1783080"/>
            <a:ext cx="5349240" cy="1371600"/>
          </a:xfrm>
          <a:prstGeom prst="rect">
            <a:avLst/>
          </a:prstGeom>
          <a:noFill/>
        </p:spPr>
        <p:txBody>
          <a:bodyPr wrap="square">
            <a:spAutoFit/>
          </a:bodyPr>
          <a:lstStyle/>
          <a:p>
            <a:r>
              <a:rPr sz="1450" b="1">
                <a:solidFill>
                  <a:srgbClr val="2C5F2D"/>
                </a:solidFill>
                <a:latin typeface="Georgia"/>
              </a:rPr>
              <a:t>I  Investigate the source</a:t>
            </a:r>
          </a:p>
          <a:p>
            <a:r>
              <a:rPr sz="1150">
                <a:solidFill>
                  <a:srgbClr val="5C6B5A"/>
                </a:solidFill>
                <a:latin typeface="Georgia"/>
              </a:rPr>
              <a:t>New tab. Who is behind this? Thirty seconds.</a:t>
            </a:r>
          </a:p>
        </p:txBody>
      </p:sp>
      <p:sp>
        <p:nvSpPr>
          <p:cNvPr id="6" name="TextBox 5"/>
          <p:cNvSpPr txBox="1"/>
          <p:nvPr/>
        </p:nvSpPr>
        <p:spPr>
          <a:xfrm>
            <a:off x="640080" y="3264408"/>
            <a:ext cx="5349240" cy="1371600"/>
          </a:xfrm>
          <a:prstGeom prst="rect">
            <a:avLst/>
          </a:prstGeom>
          <a:noFill/>
        </p:spPr>
        <p:txBody>
          <a:bodyPr wrap="square">
            <a:spAutoFit/>
          </a:bodyPr>
          <a:lstStyle/>
          <a:p>
            <a:r>
              <a:rPr sz="1450" b="1">
                <a:solidFill>
                  <a:srgbClr val="2C5F2D"/>
                </a:solidFill>
                <a:latin typeface="Georgia"/>
              </a:rPr>
              <a:t>F  Find better coverage</a:t>
            </a:r>
          </a:p>
          <a:p>
            <a:r>
              <a:rPr sz="1150">
                <a:solidFill>
                  <a:srgbClr val="5C6B5A"/>
                </a:solidFill>
                <a:latin typeface="Georgia"/>
              </a:rPr>
              <a:t>Search the claim itself. Do independent sources report it?</a:t>
            </a:r>
          </a:p>
        </p:txBody>
      </p:sp>
      <p:sp>
        <p:nvSpPr>
          <p:cNvPr id="7" name="TextBox 6"/>
          <p:cNvSpPr txBox="1"/>
          <p:nvPr/>
        </p:nvSpPr>
        <p:spPr>
          <a:xfrm>
            <a:off x="6263640" y="3264408"/>
            <a:ext cx="5349240" cy="1371600"/>
          </a:xfrm>
          <a:prstGeom prst="rect">
            <a:avLst/>
          </a:prstGeom>
          <a:noFill/>
        </p:spPr>
        <p:txBody>
          <a:bodyPr wrap="square">
            <a:spAutoFit/>
          </a:bodyPr>
          <a:lstStyle/>
          <a:p>
            <a:r>
              <a:rPr sz="1450" b="1">
                <a:solidFill>
                  <a:srgbClr val="2C5F2D"/>
                </a:solidFill>
                <a:latin typeface="Georgia"/>
              </a:rPr>
              <a:t>T  Trace to the original</a:t>
            </a:r>
          </a:p>
          <a:p>
            <a:r>
              <a:rPr sz="1150">
                <a:solidFill>
                  <a:srgbClr val="5C6B5A"/>
                </a:solidFill>
                <a:latin typeface="Georgia"/>
              </a:rPr>
              <a:t>Follow the stat upstream. Context changes everything.</a:t>
            </a:r>
          </a:p>
        </p:txBody>
      </p:sp>
      <p:sp>
        <p:nvSpPr>
          <p:cNvPr id="8" name="TextBox 7"/>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Lateral reading: leave the page and let independent sources judge it. Faster AND more reliable than staring harder.</a:t>
            </a:r>
          </a:p>
        </p:txBody>
      </p:sp>
      <p:sp>
        <p:nvSpPr>
          <p:cNvPr id="9" name="TextBox 8"/>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4 · THE RULE IN STONE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The only rule this course carves</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“A citation you never opened is a citation you cannot trust.”</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Click 1: does it exist?</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Scholar or the DOI. No result is your answer.</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Click 2: is it what it claims?</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Right authors, right venue, right year. Fakes borrow real titles with wrong details.</a:t>
            </a:r>
          </a:p>
        </p:txBody>
      </p:sp>
      <p:sp>
        <p:nvSpPr>
          <p:cNvPr id="9" name="TextBox 8"/>
          <p:cNvSpPr txBox="1"/>
          <p:nvPr/>
        </p:nvSpPr>
        <p:spPr>
          <a:xfrm>
            <a:off x="914400" y="4983480"/>
            <a:ext cx="10881360" cy="365760"/>
          </a:xfrm>
          <a:prstGeom prst="rect">
            <a:avLst/>
          </a:prstGeom>
          <a:noFill/>
        </p:spPr>
        <p:txBody>
          <a:bodyPr wrap="square">
            <a:spAutoFit/>
          </a:bodyPr>
          <a:lstStyle/>
          <a:p>
            <a:pPr algn="l"/>
            <a:r>
              <a:rPr sz="1700" b="1" i="0">
                <a:solidFill>
                  <a:srgbClr val="1F2A20"/>
                </a:solidFill>
                <a:latin typeface="Georgia"/>
              </a:rPr>
              <a:t>◆  Click 3: does it say what the AI said?</a:t>
            </a:r>
          </a:p>
        </p:txBody>
      </p:sp>
      <p:sp>
        <p:nvSpPr>
          <p:cNvPr id="10" name="TextBox 9"/>
          <p:cNvSpPr txBox="1"/>
          <p:nvPr/>
        </p:nvSpPr>
        <p:spPr>
          <a:xfrm>
            <a:off x="1234440" y="5330952"/>
            <a:ext cx="10515600" cy="365760"/>
          </a:xfrm>
          <a:prstGeom prst="rect">
            <a:avLst/>
          </a:prstGeom>
          <a:noFill/>
        </p:spPr>
        <p:txBody>
          <a:bodyPr wrap="square">
            <a:spAutoFit/>
          </a:bodyPr>
          <a:lstStyle/>
          <a:p>
            <a:pPr algn="l"/>
            <a:r>
              <a:rPr sz="1350" b="0" i="0">
                <a:solidFill>
                  <a:srgbClr val="5C6B5A"/>
                </a:solidFill>
                <a:latin typeface="Georgia"/>
              </a:rPr>
              <a:t>Open the abstract. Misattribution is the subtlest fake of all.</a:t>
            </a:r>
          </a:p>
        </p:txBody>
      </p:sp>
      <p:sp>
        <p:nvSpPr>
          <p:cNvPr id="11" name="TextBox 10"/>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Thirty seconds per citation that matters. The AI Lab's Citation Hunt makes this a reflex, with score and streaks.</a:t>
            </a:r>
          </a:p>
        </p:txBody>
      </p:sp>
      <p:sp>
        <p:nvSpPr>
          <p:cNvPr id="12" name="TextBox 11"/>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4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Play the Lab, then hunt in the wild</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Win Citation Hunt, Lateral Race, and Receipts-or-Vibes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The Lab's first three games train exactly this module.</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Then ask any chatbot for three sources on a niche topic you know</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Fakes cluster where training data is thin.</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Open all three</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Many researchers meet their first fabricated citation inside five minutes. It changes how you read forever.</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5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Design before data</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The cheapest AI hour in your whole project, and the one nobody uses.</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5 · THE UPSTREAM ADVANTAGE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Consult the machine before the data exists</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Power and sample size, sanity-checked</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Before you commit a season of fieldwork to an underpowered design.</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Test selection with assumptions stated</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"Which analysis fits this design, and what must be true for it to be valid?"</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Confound hunting</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"List the confounds a hostile reviewer would raise for this design."</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Pre-registration drafting</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Hypotheses, exclusions, and the analysis plan, written down before temptation exists.</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Errors here are silent and permanent. No amount of clever analysis rescues a broken design, which is why this hour is the cheapest one.</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5 · THE CONSULTING RULE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Show the math or it did not happen</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“"Give me the sample size, AND the formula, AND every assumption behind it, then say what would change if each assumption is wrong."”</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Numbers without derivations are vibes</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A power calculation you cannot inspect is a guess wearing a lab coat.</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Cross-check with a second tool</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Two independent calculations that agree are worth ten confident ones.</a:t>
            </a:r>
          </a:p>
        </p:txBody>
      </p:sp>
      <p:sp>
        <p:nvSpPr>
          <p:cNvPr id="9" name="TextBox 8"/>
          <p:cNvSpPr txBox="1"/>
          <p:nvPr/>
        </p:nvSpPr>
        <p:spPr>
          <a:xfrm>
            <a:off x="914400" y="4983480"/>
            <a:ext cx="10881360" cy="365760"/>
          </a:xfrm>
          <a:prstGeom prst="rect">
            <a:avLst/>
          </a:prstGeom>
          <a:noFill/>
        </p:spPr>
        <p:txBody>
          <a:bodyPr wrap="square">
            <a:spAutoFit/>
          </a:bodyPr>
          <a:lstStyle/>
          <a:p>
            <a:pPr algn="l"/>
            <a:r>
              <a:rPr sz="1700" b="1" i="0">
                <a:solidFill>
                  <a:srgbClr val="1F2A20"/>
                </a:solidFill>
                <a:latin typeface="Georgia"/>
              </a:rPr>
              <a:t>◆  Then take it to a human when stakes are high</a:t>
            </a:r>
          </a:p>
        </p:txBody>
      </p:sp>
      <p:sp>
        <p:nvSpPr>
          <p:cNvPr id="10" name="TextBox 9"/>
          <p:cNvSpPr txBox="1"/>
          <p:nvPr/>
        </p:nvSpPr>
        <p:spPr>
          <a:xfrm>
            <a:off x="1234440" y="5330952"/>
            <a:ext cx="10515600" cy="365760"/>
          </a:xfrm>
          <a:prstGeom prst="rect">
            <a:avLst/>
          </a:prstGeom>
          <a:noFill/>
        </p:spPr>
        <p:txBody>
          <a:bodyPr wrap="square">
            <a:spAutoFit/>
          </a:bodyPr>
          <a:lstStyle/>
          <a:p>
            <a:pPr algn="l"/>
            <a:r>
              <a:rPr sz="1350" b="0" i="0">
                <a:solidFill>
                  <a:srgbClr val="5C6B5A"/>
                </a:solidFill>
                <a:latin typeface="Georgia"/>
              </a:rPr>
              <a:t>AI is the tireless first consult, not the sign-off.</a:t>
            </a:r>
          </a:p>
        </p:txBody>
      </p:sp>
      <p:sp>
        <p:nvSpPr>
          <p:cNvPr id="11" name="TextBox 10"/>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The statistics remain yours. "The AI chose the test" is not a methods section.</a:t>
            </a:r>
          </a:p>
        </p:txBody>
      </p:sp>
      <p:sp>
        <p:nvSpPr>
          <p:cNvPr id="12" name="TextBox 11"/>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5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Stress-test your next study in ten minutes</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Describe the study in six sentences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Question, design, sample, measures, analysis, constraint.</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Ask for the three most likely fatal flaws</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And the sample size math, shown in full.</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Ask what a hostile reviewer would propose instead</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You do not have to agree. You have to have heard it before they say it.</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6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Analyze: your AI data analyst</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Plain English in. Working analysis out. Your judgment in between.</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6 · THIS IS NOT AUTOCOMPLETE ANYMORE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What 2026 assistants actually see and do</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Posit Assistant sees your dataframe, your code, AND your rendered plot</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Purpose-built for data work in Positron and RStudio, reasoning across R and Python in one analysis.</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Agentic assistants navigate whole repositories</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Claude Code and Copilot agents read, run, and revise multi-file analyses.</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Browser analysts run plain-English analyses</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Julius and ChatGPT execute code on your uploaded data and hand back plots.</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MATLAB ships its own AI chat</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The big proprietary stacks are in the same race.</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The interface stopped being autocomplete and became a colleague who can see your screen. The safety rules change accordingly.</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6 · THE SAFE LOOP</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Five steps that keep you the analyst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Describe data + goal + constraints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Column meanings, units, what a row is, what success looks like.</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Require commented code</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Every block explains itself, in your language of choice.</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The explain-it-back rule</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AI walks through every line before you run anything.</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The tiny-test rule</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Run on ten rows you can verify by hand. Then, and only then, scale.</a:t>
            </a:r>
          </a:p>
        </p:txBody>
      </p:sp>
      <p:sp>
        <p:nvSpPr>
          <p:cNvPr id="12" name="TextBox 11"/>
          <p:cNvSpPr txBox="1"/>
          <p:nvPr/>
        </p:nvSpPr>
        <p:spPr>
          <a:xfrm>
            <a:off x="914400" y="5440680"/>
            <a:ext cx="10881360" cy="365760"/>
          </a:xfrm>
          <a:prstGeom prst="rect">
            <a:avLst/>
          </a:prstGeom>
          <a:noFill/>
        </p:spPr>
        <p:txBody>
          <a:bodyPr wrap="square">
            <a:spAutoFit/>
          </a:bodyPr>
          <a:lstStyle/>
          <a:p>
            <a:pPr algn="l"/>
            <a:r>
              <a:rPr sz="1700" b="1" i="0">
                <a:solidFill>
                  <a:srgbClr val="1F2A20"/>
                </a:solidFill>
                <a:latin typeface="Georgia"/>
              </a:rPr>
              <a:t>◆  Keep the transcript</a:t>
            </a:r>
          </a:p>
        </p:txBody>
      </p:sp>
      <p:sp>
        <p:nvSpPr>
          <p:cNvPr id="13" name="TextBox 12"/>
          <p:cNvSpPr txBox="1"/>
          <p:nvPr/>
        </p:nvSpPr>
        <p:spPr>
          <a:xfrm>
            <a:off x="1234440" y="5788152"/>
            <a:ext cx="10515600" cy="365760"/>
          </a:xfrm>
          <a:prstGeom prst="rect">
            <a:avLst/>
          </a:prstGeom>
          <a:noFill/>
        </p:spPr>
        <p:txBody>
          <a:bodyPr wrap="square">
            <a:spAutoFit/>
          </a:bodyPr>
          <a:lstStyle/>
          <a:p>
            <a:pPr algn="l"/>
            <a:r>
              <a:rPr sz="1350" b="0" i="0">
                <a:solidFill>
                  <a:srgbClr val="5C6B5A"/>
                </a:solidFill>
                <a:latin typeface="Georgia"/>
              </a:rPr>
              <a:t>The conversation IS your analysis log. Save it with the code.</a:t>
            </a:r>
          </a:p>
        </p:txBody>
      </p:sp>
      <p:sp>
        <p:nvSpPr>
          <p:cNvPr id="14" name="TextBox 13"/>
          <p:cNvSpPr txBox="1"/>
          <p:nvPr/>
        </p:nvSpPr>
        <p:spPr>
          <a:xfrm>
            <a:off x="640080" y="5989320"/>
            <a:ext cx="10881360" cy="685800"/>
          </a:xfrm>
          <a:prstGeom prst="rect">
            <a:avLst/>
          </a:prstGeom>
          <a:noFill/>
        </p:spPr>
        <p:txBody>
          <a:bodyPr wrap="square">
            <a:spAutoFit/>
          </a:bodyPr>
          <a:lstStyle/>
          <a:p>
            <a:r>
              <a:rPr sz="1250" i="1">
                <a:solidFill>
                  <a:srgbClr val="B98A2D"/>
                </a:solidFill>
                <a:latin typeface="Georgia"/>
              </a:rPr>
              <a:t>Where it silently fails: plausible-but-wrong test choices, hallucinated function arguments, silent unit and join errors. Every failure mode above is caught by the loop's steps 3 and 4.</a:t>
            </a:r>
          </a:p>
        </p:txBody>
      </p:sp>
      <p:sp>
        <p:nvSpPr>
          <p:cNvPr id="15" name="TextBox 14"/>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6 · THE QUALITATIVE LANE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Half of research is not a spreadsheet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Transcription is effectively solved</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Whisper-class models turn interview hours into text in minutes, including accents and crosstalk that used to cost transcription budgets.</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Thematic coding: AI proposes, you adjudicate</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First-pass themes and codings at scale, with every decision logged. The interpretive authority stays human.</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Survey open-ends at scale</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Thousands of free-text responses, clustered and quantified in an afternoon.</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Keep an audit trail of accepted and rejected codings. "The AI coded it" is not a methodology; "AI-assisted coding with human adjudication, trail attached" is.</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6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The messy CSV challenge</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Hand an assistant your messiest real CSV</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With a plain-English description of what each column means.</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Ask for cleaning plus one labeled plot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In R or Python, every step commented, explained back before running.</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Run the tiny test first</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Ten rows, hand-checked. Then the full file.</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7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See and hear</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Machine eyes for your figures and field notes. A voice for your paper library.</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7 · WHAT MACHINE EYES CAN DO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Multimodal AI for research material</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Extract numbers from published charts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Digitize the figure from that 1998 paper nobody has the data for.</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First-pass reads of micrographs and maps</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Descriptions, counts, anomalies, at triage speed.</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Transcribe handwritten field notebooks</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Including the writing you can barely read yourself.</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Pull tables out of photos and PDFs</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The eternal scanned-appendix problem, mostly solved.</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B98A2D"/>
                </a:solidFill>
                <a:latin typeface="Georgia"/>
              </a:rPr>
              <a:t>The measured limit: vision models still misidentify fine-grained structures in cluttered scientific imagery that trained experts catch. Brilliant interns with astigmatism: fast, useful, and never the final reader.</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7 · THE TWO VISION RULES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Hypothesis, then spot-check</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Every extracted number gets spot-verified</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Check a sample against the source before any extracted dataset enters your analysis.</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Every identification is a hypothesis</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A model calling a structure on a micrograph is a lead for the expert, never a result for the paper.</a:t>
            </a:r>
          </a:p>
        </p:txBody>
      </p:sp>
      <p:sp>
        <p:nvSpPr>
          <p:cNvPr id="8" name="TextBox 7"/>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Used this way, machine eyes are a triage superpower with zero downside. Skipped, they are a retraction generator.</a:t>
            </a:r>
          </a:p>
        </p:txBody>
      </p:sp>
      <p:sp>
        <p:nvSpPr>
          <p:cNvPr id="9" name="TextBox 8"/>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7 · YOUR LIBRARY, TALKING BACK</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Source-grounded assistants (the NotebookLM class)</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Upload your papers, ask questions, get cited answers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Answers ground in YOUR corpus, not in training memory, and cite back to the page.</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Audio overviews you can interrupt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Podcast-style discussions of your sources, in formats from brief to critical debate, that take your questions mid-conversation.</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Maps, decks, and quizzes on demand</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The library becomes study materials while you commute.</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NotebookLM is the flagship demo; the CAPABILITY, source-grounded Q&amp;A over your own corpus, is the thing to learn. Products rotate.</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7 · WHY GROUNDING MATTERS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Containment, not elimination</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“A source-grounded answer can still be wrong, but it is wrong INSIDE a corpus you can check, with citations that point at pages you own.”</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Open chat free-associates from memory</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Its errors can come from anywhere, so checking means searching the world.</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Grounded chat errs inside your uploads</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Checking means opening the cited page. The error surface shrinks by orders of magnitude.</a:t>
            </a:r>
          </a:p>
        </p:txBody>
      </p:sp>
      <p:sp>
        <p:nvSpPr>
          <p:cNvPr id="9" name="TextBox 8"/>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This is the same receipts principle from Module 3, applied to your own bookshelf.</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7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One page, one chart, one podcast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Photograph a handwritten page and a published chart</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Ask for transcription and extracted values. Count the errors yourself.</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Upload three papers from your field</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Generate a critical-format audio overview.</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Interrupt it</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Ask the question you would ask the authors. That moment sells the whole module.</a:t>
            </a:r>
          </a:p>
        </p:txBody>
      </p:sp>
      <p:sp>
        <p:nvSpPr>
          <p:cNvPr id="10" name="TextBox 9"/>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8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Write: drafts, translation, grants, review</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The most-used AI research task on earth, and the most policed.</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8 · THE LEGITIMATE POWER TOOLS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What writing help looks like when it is honest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Revision and clarity passes</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Tighten, restructure, de-jargon: your ideas, better sentences.</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Translation and English polishing</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The great equalizer for non-native speakers, and at many venues it now counts as exempt copy-editing. Check YOUR venue.</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The unglamorous fleet</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Abstracts, cover letters, plain-language summaries, response-to-reviewers scaffolds.</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Grant support</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Aims critiqued, reviewer simulated, boilerplate drafted. The science stays yours; NIH has signaled AI-substantially-written proposals can be rejected.</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The line that never moves: AI assists the writing. You remain the author, and the author answers for every sentence.</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8 · THE POLICY TABLE (JULY 2026)</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The rules now differ FOR REAL</a:t>
            </a:r>
          </a:p>
        </p:txBody>
      </p:sp>
      <p:sp>
        <p:nvSpPr>
          <p:cNvPr id="4" name="TextBox 3"/>
          <p:cNvSpPr txBox="1"/>
          <p:nvPr/>
        </p:nvSpPr>
        <p:spPr>
          <a:xfrm>
            <a:off x="640080" y="1783080"/>
            <a:ext cx="5349240" cy="1371600"/>
          </a:xfrm>
          <a:prstGeom prst="rect">
            <a:avLst/>
          </a:prstGeom>
          <a:noFill/>
        </p:spPr>
        <p:txBody>
          <a:bodyPr wrap="square">
            <a:spAutoFit/>
          </a:bodyPr>
          <a:lstStyle/>
          <a:p>
            <a:r>
              <a:rPr sz="1450" b="1">
                <a:solidFill>
                  <a:srgbClr val="2C5F2D"/>
                </a:solidFill>
                <a:latin typeface="Georgia"/>
              </a:rPr>
              <a:t>Science</a:t>
            </a:r>
          </a:p>
          <a:p>
            <a:r>
              <a:rPr sz="1150">
                <a:solidFill>
                  <a:srgbClr val="5C6B5A"/>
                </a:solidFill>
                <a:latin typeface="Georgia"/>
              </a:rPr>
              <a:t>Disclosure of ALL AI use required, in the acknowledgments. Including copy editing.</a:t>
            </a:r>
          </a:p>
        </p:txBody>
      </p:sp>
      <p:sp>
        <p:nvSpPr>
          <p:cNvPr id="5" name="TextBox 4"/>
          <p:cNvSpPr txBox="1"/>
          <p:nvPr/>
        </p:nvSpPr>
        <p:spPr>
          <a:xfrm>
            <a:off x="6263640" y="1783080"/>
            <a:ext cx="5349240" cy="1371600"/>
          </a:xfrm>
          <a:prstGeom prst="rect">
            <a:avLst/>
          </a:prstGeom>
          <a:noFill/>
        </p:spPr>
        <p:txBody>
          <a:bodyPr wrap="square">
            <a:spAutoFit/>
          </a:bodyPr>
          <a:lstStyle/>
          <a:p>
            <a:r>
              <a:rPr sz="1450" b="1">
                <a:solidFill>
                  <a:srgbClr val="2C5F2D"/>
                </a:solidFill>
                <a:latin typeface="Georgia"/>
              </a:rPr>
              <a:t>Nature portfolio</a:t>
            </a:r>
          </a:p>
          <a:p>
            <a:r>
              <a:rPr sz="1150">
                <a:solidFill>
                  <a:srgbClr val="5C6B5A"/>
                </a:solidFill>
                <a:latin typeface="Georgia"/>
              </a:rPr>
              <a:t>Copy-editing exempt from disclosure; AI-generated images banned; methods-level disclosure for substantive use.</a:t>
            </a:r>
          </a:p>
        </p:txBody>
      </p:sp>
      <p:sp>
        <p:nvSpPr>
          <p:cNvPr id="6" name="TextBox 5"/>
          <p:cNvSpPr txBox="1"/>
          <p:nvPr/>
        </p:nvSpPr>
        <p:spPr>
          <a:xfrm>
            <a:off x="640080" y="3264408"/>
            <a:ext cx="5349240" cy="1371600"/>
          </a:xfrm>
          <a:prstGeom prst="rect">
            <a:avLst/>
          </a:prstGeom>
          <a:noFill/>
        </p:spPr>
        <p:txBody>
          <a:bodyPr wrap="square">
            <a:spAutoFit/>
          </a:bodyPr>
          <a:lstStyle/>
          <a:p>
            <a:r>
              <a:rPr sz="1450" b="1">
                <a:solidFill>
                  <a:srgbClr val="2C5F2D"/>
                </a:solidFill>
                <a:latin typeface="Georgia"/>
              </a:rPr>
              <a:t>Elsevier</a:t>
            </a:r>
          </a:p>
          <a:p>
            <a:r>
              <a:rPr sz="1150">
                <a:solidFill>
                  <a:srgbClr val="5C6B5A"/>
                </a:solidFill>
                <a:latin typeface="Georgia"/>
              </a:rPr>
              <a:t>Dedicated declaration section for generative AI in the writing process; no AI authorship.</a:t>
            </a:r>
          </a:p>
        </p:txBody>
      </p:sp>
      <p:sp>
        <p:nvSpPr>
          <p:cNvPr id="7" name="TextBox 6"/>
          <p:cNvSpPr txBox="1"/>
          <p:nvPr/>
        </p:nvSpPr>
        <p:spPr>
          <a:xfrm>
            <a:off x="6263640" y="3264408"/>
            <a:ext cx="5349240" cy="1371600"/>
          </a:xfrm>
          <a:prstGeom prst="rect">
            <a:avLst/>
          </a:prstGeom>
          <a:noFill/>
        </p:spPr>
        <p:txBody>
          <a:bodyPr wrap="square">
            <a:spAutoFit/>
          </a:bodyPr>
          <a:lstStyle/>
          <a:p>
            <a:r>
              <a:rPr sz="1450" b="1">
                <a:solidFill>
                  <a:srgbClr val="2C5F2D"/>
                </a:solidFill>
                <a:latin typeface="Georgia"/>
              </a:rPr>
              <a:t>NIH</a:t>
            </a:r>
          </a:p>
          <a:p>
            <a:r>
              <a:rPr sz="1150">
                <a:solidFill>
                  <a:srgbClr val="5C6B5A"/>
                </a:solidFill>
                <a:latin typeface="Georgia"/>
              </a:rPr>
              <a:t>Reviewers barred from feeding applications to AI; proposals substantially written by AI can be rejected.</a:t>
            </a:r>
          </a:p>
        </p:txBody>
      </p:sp>
      <p:sp>
        <p:nvSpPr>
          <p:cNvPr id="8" name="TextBox 7"/>
          <p:cNvSpPr txBox="1"/>
          <p:nvPr/>
        </p:nvSpPr>
        <p:spPr>
          <a:xfrm>
            <a:off x="640080" y="5989320"/>
            <a:ext cx="10881360" cy="685800"/>
          </a:xfrm>
          <a:prstGeom prst="rect">
            <a:avLst/>
          </a:prstGeom>
          <a:noFill/>
        </p:spPr>
        <p:txBody>
          <a:bodyPr wrap="square">
            <a:spAutoFit/>
          </a:bodyPr>
          <a:lstStyle/>
          <a:p>
            <a:r>
              <a:rPr sz="1250" i="1">
                <a:solidFill>
                  <a:srgbClr val="B98A2D"/>
                </a:solidFill>
                <a:latin typeface="Georgia"/>
              </a:rPr>
              <a:t>One-size-fits-all advice about AI writing is now wrong by construction. The habit is: check the venue's actual policy page at submission time, every time.</a:t>
            </a:r>
          </a:p>
        </p:txBody>
      </p:sp>
      <p:sp>
        <p:nvSpPr>
          <p:cNvPr id="9" name="TextBox 8"/>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8 · PRE-REVIEW YOURSELF</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Reviewer 2, on demand, in private</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“"Attack this manuscript as a skeptical reviewer: clarity, methods gaps, statistical red flags, overclaimed conclusions, missing limitations. Be specific and merciless."”</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It is tireless and shameless</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Exactly what you want BEFORE humans see it.</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It is already on the other side too</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Roughly 21% of reviews at a major AI conference were flagged as substantially AI-written, and ~12% of review text at a major journal family.</a:t>
            </a:r>
          </a:p>
        </p:txBody>
      </p:sp>
      <p:sp>
        <p:nvSpPr>
          <p:cNvPr id="9" name="TextBox 8"/>
          <p:cNvSpPr txBox="1"/>
          <p:nvPr/>
        </p:nvSpPr>
        <p:spPr>
          <a:xfrm>
            <a:off x="914400" y="4983480"/>
            <a:ext cx="10881360" cy="365760"/>
          </a:xfrm>
          <a:prstGeom prst="rect">
            <a:avLst/>
          </a:prstGeom>
          <a:noFill/>
        </p:spPr>
        <p:txBody>
          <a:bodyPr wrap="square">
            <a:spAutoFit/>
          </a:bodyPr>
          <a:lstStyle/>
          <a:p>
            <a:pPr algn="l"/>
            <a:r>
              <a:rPr sz="1700" b="1" i="0">
                <a:solidFill>
                  <a:srgbClr val="1F2A20"/>
                </a:solidFill>
                <a:latin typeface="Georgia"/>
              </a:rPr>
              <a:t>◆  So assume a hybrid audience</a:t>
            </a:r>
          </a:p>
        </p:txBody>
      </p:sp>
      <p:sp>
        <p:nvSpPr>
          <p:cNvPr id="10" name="TextBox 9"/>
          <p:cNvSpPr txBox="1"/>
          <p:nvPr/>
        </p:nvSpPr>
        <p:spPr>
          <a:xfrm>
            <a:off x="1234440" y="5330952"/>
            <a:ext cx="10515600" cy="365760"/>
          </a:xfrm>
          <a:prstGeom prst="rect">
            <a:avLst/>
          </a:prstGeom>
          <a:noFill/>
        </p:spPr>
        <p:txBody>
          <a:bodyPr wrap="square">
            <a:spAutoFit/>
          </a:bodyPr>
          <a:lstStyle/>
          <a:p>
            <a:pPr algn="l"/>
            <a:r>
              <a:rPr sz="1350" b="0" i="0">
                <a:solidFill>
                  <a:srgbClr val="5C6B5A"/>
                </a:solidFill>
                <a:latin typeface="Georgia"/>
              </a:rPr>
              <a:t>Write for humans, and expect machines to read you first.</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8 · THE RED LINES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Where writing help becomes misconduct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Never upload someone ELSE'S unpublished work</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Manuscripts and grants you review are confidential. NIH bars reviewers from feeding applications to AI, full stop.</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Never let AI invent citations, data, or quotes</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Module 4 taught you exactly how convincingly it will.</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Never skip the venue's declaration</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Disclosure costs a sentence. Discovery costs a reputation.</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Try it tonight: paste YOUR abstract, ask for the three harshest justified referee comments, and fix one before bed.</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9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Reproducible and intact</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Analyses anyone can rerun. References anyone can open.</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9 · THE TWO QUIET CRISES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And the assistant that fixes both, if asked</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Crisis one: analyses nobody can rerun</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Undocumented scripts, unpinned environments, the folder called final_v2_REAL.</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Crisis two: reference lists nobody checked</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Module 4 measured this one: 1 in 277 papers and rising.</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The fix costs one sentence each</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The same assistant that wrote your analysis will write the README, pin the environment, and document the workflow. Most people never ask.</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Reproducibility went from a virtue to a prompt. "Document this script, list dependencies with versions, and write a README a stranger could follow" takes eleven seconds to type.</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9 · THE REPRODUCIBILITY ASKS</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Four prompts for your existing code</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"Document every function and non-obvious line"</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Comments a stranger, including future-you, can follow.</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"Pin this environment"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requirements.txt, renv, or a container recipe, with versions.</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"Turn this session into a script"</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Interactive spelunking becomes a rerunnable pipeline.</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"Write the README"</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Data expected, steps to run, outputs produced, one page.</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AI drafts, you correct. The audit trail from Module 6's safe loop completes the package.</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9 · REFERENCE INTEGRITY</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The two nevers</a:t>
            </a:r>
          </a:p>
        </p:txBody>
      </p:sp>
      <p:sp>
        <p:nvSpPr>
          <p:cNvPr id="4" name="TextBox 3"/>
          <p:cNvSpPr txBox="1"/>
          <p:nvPr/>
        </p:nvSpPr>
        <p:spPr>
          <a:xfrm>
            <a:off x="822960" y="1783080"/>
            <a:ext cx="10515600" cy="914400"/>
          </a:xfrm>
          <a:prstGeom prst="rect">
            <a:avLst/>
          </a:prstGeom>
          <a:noFill/>
        </p:spPr>
        <p:txBody>
          <a:bodyPr wrap="square">
            <a:spAutoFit/>
          </a:bodyPr>
          <a:lstStyle/>
          <a:p>
            <a:pPr algn="l"/>
            <a:r>
              <a:rPr sz="1900" b="0" i="1">
                <a:solidFill>
                  <a:srgbClr val="33402F"/>
                </a:solidFill>
                <a:latin typeface="Georgia"/>
              </a:rPr>
              <a:t>“Never hand-type a citation. And never trust an AI-typed one.”</a:t>
            </a:r>
          </a:p>
        </p:txBody>
      </p:sp>
      <p:sp>
        <p:nvSpPr>
          <p:cNvPr id="5" name="TextBox 4"/>
          <p:cNvSpPr txBox="1"/>
          <p:nvPr/>
        </p:nvSpPr>
        <p:spPr>
          <a:xfrm>
            <a:off x="914400" y="3154680"/>
            <a:ext cx="10881360" cy="365760"/>
          </a:xfrm>
          <a:prstGeom prst="rect">
            <a:avLst/>
          </a:prstGeom>
          <a:noFill/>
        </p:spPr>
        <p:txBody>
          <a:bodyPr wrap="square">
            <a:spAutoFit/>
          </a:bodyPr>
          <a:lstStyle/>
          <a:p>
            <a:pPr algn="l"/>
            <a:r>
              <a:rPr sz="1700" b="1" i="0">
                <a:solidFill>
                  <a:srgbClr val="1F2A20"/>
                </a:solidFill>
                <a:latin typeface="Georgia"/>
              </a:rPr>
              <a:t>◆  Import from the source of record</a:t>
            </a:r>
          </a:p>
        </p:txBody>
      </p:sp>
      <p:sp>
        <p:nvSpPr>
          <p:cNvPr id="6" name="TextBox 5"/>
          <p:cNvSpPr txBox="1"/>
          <p:nvPr/>
        </p:nvSpPr>
        <p:spPr>
          <a:xfrm>
            <a:off x="1234440" y="3502152"/>
            <a:ext cx="10515600" cy="365760"/>
          </a:xfrm>
          <a:prstGeom prst="rect">
            <a:avLst/>
          </a:prstGeom>
          <a:noFill/>
        </p:spPr>
        <p:txBody>
          <a:bodyPr wrap="square">
            <a:spAutoFit/>
          </a:bodyPr>
          <a:lstStyle/>
          <a:p>
            <a:pPr algn="l"/>
            <a:r>
              <a:rPr sz="1350" b="0" i="0">
                <a:solidFill>
                  <a:srgbClr val="5C6B5A"/>
                </a:solidFill>
                <a:latin typeface="Georgia"/>
              </a:rPr>
              <a:t>Zotero pulls metadata from Crossref and publishers; Better BibTeX keeps keys stable.</a:t>
            </a:r>
          </a:p>
        </p:txBody>
      </p:sp>
      <p:sp>
        <p:nvSpPr>
          <p:cNvPr id="7" name="TextBox 6"/>
          <p:cNvSpPr txBox="1"/>
          <p:nvPr/>
        </p:nvSpPr>
        <p:spPr>
          <a:xfrm>
            <a:off x="914400" y="4069080"/>
            <a:ext cx="10881360" cy="365760"/>
          </a:xfrm>
          <a:prstGeom prst="rect">
            <a:avLst/>
          </a:prstGeom>
          <a:noFill/>
        </p:spPr>
        <p:txBody>
          <a:bodyPr wrap="square">
            <a:spAutoFit/>
          </a:bodyPr>
          <a:lstStyle/>
          <a:p>
            <a:pPr algn="l"/>
            <a:r>
              <a:rPr sz="1700" b="1" i="0">
                <a:solidFill>
                  <a:srgbClr val="1F2A20"/>
                </a:solidFill>
                <a:latin typeface="Georgia"/>
              </a:rPr>
              <a:t>◆  AI plugins are a reading layer, not a source</a:t>
            </a:r>
          </a:p>
        </p:txBody>
      </p:sp>
      <p:sp>
        <p:nvSpPr>
          <p:cNvPr id="8" name="TextBox 7"/>
          <p:cNvSpPr txBox="1"/>
          <p:nvPr/>
        </p:nvSpPr>
        <p:spPr>
          <a:xfrm>
            <a:off x="1234440" y="4416552"/>
            <a:ext cx="10515600" cy="365760"/>
          </a:xfrm>
          <a:prstGeom prst="rect">
            <a:avLst/>
          </a:prstGeom>
          <a:noFill/>
        </p:spPr>
        <p:txBody>
          <a:bodyPr wrap="square">
            <a:spAutoFit/>
          </a:bodyPr>
          <a:lstStyle/>
          <a:p>
            <a:pPr algn="l"/>
            <a:r>
              <a:rPr sz="1350" b="0" i="0">
                <a:solidFill>
                  <a:srgbClr val="5C6B5A"/>
                </a:solidFill>
                <a:latin typeface="Georgia"/>
              </a:rPr>
              <a:t>Beaver and PapersGPT-class tools chat over your library; the BIBLIOGRAPHIC RECORD still comes from the registry.</a:t>
            </a:r>
          </a:p>
        </p:txBody>
      </p:sp>
      <p:sp>
        <p:nvSpPr>
          <p:cNvPr id="9" name="TextBox 8"/>
          <p:cNvSpPr txBox="1"/>
          <p:nvPr/>
        </p:nvSpPr>
        <p:spPr>
          <a:xfrm>
            <a:off x="914400" y="4983480"/>
            <a:ext cx="10881360" cy="365760"/>
          </a:xfrm>
          <a:prstGeom prst="rect">
            <a:avLst/>
          </a:prstGeom>
          <a:noFill/>
        </p:spPr>
        <p:txBody>
          <a:bodyPr wrap="square">
            <a:spAutoFit/>
          </a:bodyPr>
          <a:lstStyle/>
          <a:p>
            <a:pPr algn="l"/>
            <a:r>
              <a:rPr sz="1700" b="1" i="0">
                <a:solidFill>
                  <a:srgbClr val="1F2A20"/>
                </a:solidFill>
                <a:latin typeface="Georgia"/>
              </a:rPr>
              <a:t>◆  The final gate: DOIs resolve</a:t>
            </a:r>
          </a:p>
        </p:txBody>
      </p:sp>
      <p:sp>
        <p:nvSpPr>
          <p:cNvPr id="10" name="TextBox 9"/>
          <p:cNvSpPr txBox="1"/>
          <p:nvPr/>
        </p:nvSpPr>
        <p:spPr>
          <a:xfrm>
            <a:off x="1234440" y="5330952"/>
            <a:ext cx="10515600" cy="365760"/>
          </a:xfrm>
          <a:prstGeom prst="rect">
            <a:avLst/>
          </a:prstGeom>
          <a:noFill/>
        </p:spPr>
        <p:txBody>
          <a:bodyPr wrap="square">
            <a:spAutoFit/>
          </a:bodyPr>
          <a:lstStyle/>
          <a:p>
            <a:pPr algn="l"/>
            <a:r>
              <a:rPr sz="1350" b="0" i="0">
                <a:solidFill>
                  <a:srgbClr val="5C6B5A"/>
                </a:solidFill>
                <a:latin typeface="Georgia"/>
              </a:rPr>
              <a:t>One pass before submission: every DOI opens, every entry matches. Minutes, not hours.</a:t>
            </a:r>
          </a:p>
        </p:txBody>
      </p:sp>
      <p:sp>
        <p:nvSpPr>
          <p:cNvPr id="11" name="TextBox 10"/>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BibTeX generated from a model's memory is Module 4's fabrication problem wearing a bow tie.</a:t>
            </a:r>
          </a:p>
        </p:txBody>
      </p:sp>
      <p:sp>
        <p:nvSpPr>
          <p:cNvPr id="12" name="TextBox 11"/>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9 · TRY IT NOW</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Two checks on your current project</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Have AI document one existing script</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Then correct its two wrong guesses. That correction IS the documentation working.</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Run your reference list through a DOI check</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Count the casualties. Almost every list has at least one.</a:t>
            </a:r>
          </a:p>
        </p:txBody>
      </p:sp>
      <p:sp>
        <p:nvSpPr>
          <p:cNvPr id="8" name="TextBox 7"/>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6240F"/>
        </a:solidFill>
        <a:effectLst/>
      </p:bgPr>
    </p:bg>
    <p:spTree>
      <p:nvGrpSpPr>
        <p:cNvPr id="1" name=""/>
        <p:cNvGrpSpPr/>
        <p:nvPr/>
      </p:nvGrpSpPr>
      <p:grpSpPr/>
      <p:sp>
        <p:nvSpPr>
          <p:cNvPr id="2" name="TextBox 1"/>
          <p:cNvSpPr txBox="1"/>
          <p:nvPr/>
        </p:nvSpPr>
        <p:spPr>
          <a:xfrm>
            <a:off x="822960" y="1828800"/>
            <a:ext cx="10515600" cy="457200"/>
          </a:xfrm>
          <a:prstGeom prst="rect">
            <a:avLst/>
          </a:prstGeom>
          <a:noFill/>
        </p:spPr>
        <p:txBody>
          <a:bodyPr wrap="square">
            <a:spAutoFit/>
          </a:bodyPr>
          <a:lstStyle/>
          <a:p>
            <a:pPr algn="l"/>
            <a:r>
              <a:rPr sz="1400" b="1" i="0">
                <a:solidFill>
                  <a:srgbClr val="D9B25C"/>
                </a:solidFill>
                <a:latin typeface="Verdana"/>
              </a:rPr>
              <a:t>MODULE 10 OF 10</a:t>
            </a:r>
          </a:p>
        </p:txBody>
      </p:sp>
      <p:sp>
        <p:nvSpPr>
          <p:cNvPr id="3" name="TextBox 2"/>
          <p:cNvSpPr txBox="1"/>
          <p:nvPr/>
        </p:nvSpPr>
        <p:spPr>
          <a:xfrm>
            <a:off x="822960" y="2331720"/>
            <a:ext cx="10515600" cy="1280160"/>
          </a:xfrm>
          <a:prstGeom prst="rect">
            <a:avLst/>
          </a:prstGeom>
          <a:noFill/>
        </p:spPr>
        <p:txBody>
          <a:bodyPr wrap="square">
            <a:spAutoFit/>
          </a:bodyPr>
          <a:lstStyle/>
          <a:p>
            <a:pPr algn="l"/>
            <a:r>
              <a:rPr sz="4800" b="1" i="0">
                <a:solidFill>
                  <a:srgbClr val="FBF7EA"/>
                </a:solidFill>
                <a:latin typeface="Georgia"/>
              </a:rPr>
              <a:t>Responsible AI, and your personal stack</a:t>
            </a:r>
          </a:p>
        </p:txBody>
      </p:sp>
      <p:sp>
        <p:nvSpPr>
          <p:cNvPr id="4" name="TextBox 3"/>
          <p:cNvSpPr txBox="1"/>
          <p:nvPr/>
        </p:nvSpPr>
        <p:spPr>
          <a:xfrm>
            <a:off x="822960" y="3794760"/>
            <a:ext cx="10058400" cy="822960"/>
          </a:xfrm>
          <a:prstGeom prst="rect">
            <a:avLst/>
          </a:prstGeom>
          <a:noFill/>
        </p:spPr>
        <p:txBody>
          <a:bodyPr wrap="square">
            <a:spAutoFit/>
          </a:bodyPr>
          <a:lstStyle/>
          <a:p>
            <a:pPr algn="l"/>
            <a:r>
              <a:rPr sz="2000" b="0" i="1">
                <a:solidFill>
                  <a:srgbClr val="97BC62"/>
                </a:solidFill>
                <a:latin typeface="Georgia"/>
              </a:rPr>
              <a:t>The capstone: judgment, written down.</a:t>
            </a:r>
          </a:p>
        </p:txBody>
      </p:sp>
      <p:sp>
        <p:nvSpPr>
          <p:cNvPr id="5" name="TextBox 4"/>
          <p:cNvSpPr txBox="1"/>
          <p:nvPr/>
        </p:nvSpPr>
        <p:spPr>
          <a:xfrm>
            <a:off x="822960" y="6126480"/>
            <a:ext cx="10515600" cy="365760"/>
          </a:xfrm>
          <a:prstGeom prst="rect">
            <a:avLst/>
          </a:prstGeom>
          <a:noFill/>
        </p:spPr>
        <p:txBody>
          <a:bodyPr wrap="square">
            <a:spAutoFit/>
          </a:bodyPr>
          <a:lstStyle/>
          <a:p>
            <a:pPr algn="l"/>
            <a:r>
              <a:rPr sz="1100" b="0" i="0">
                <a:solidFill>
                  <a:srgbClr val="7FA06F"/>
                </a:solidFill>
                <a:latin typeface="Georgia"/>
              </a:rPr>
              <a:t>Cambium Academy · Course 03 · Research with AI</a:t>
            </a:r>
          </a:p>
        </p:txBody>
      </p:sp>
      <p:sp>
        <p:nvSpPr>
          <p:cNvPr id="6" name="TextBox 5"/>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10 · THE GAP WHERE CAREERS GET HURT</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Disclosure, measured</a:t>
            </a:r>
          </a:p>
        </p:txBody>
      </p:sp>
      <p:sp>
        <p:nvSpPr>
          <p:cNvPr id="4" name="TextBox 3"/>
          <p:cNvSpPr txBox="1"/>
          <p:nvPr/>
        </p:nvSpPr>
        <p:spPr>
          <a:xfrm>
            <a:off x="640080" y="1783080"/>
            <a:ext cx="5394960" cy="731520"/>
          </a:xfrm>
          <a:prstGeom prst="rect">
            <a:avLst/>
          </a:prstGeom>
          <a:noFill/>
        </p:spPr>
        <p:txBody>
          <a:bodyPr wrap="square">
            <a:spAutoFit/>
          </a:bodyPr>
          <a:lstStyle/>
          <a:p>
            <a:pPr algn="l"/>
            <a:r>
              <a:rPr sz="3400" b="1" i="0">
                <a:solidFill>
                  <a:srgbClr val="B98A2D"/>
                </a:solidFill>
                <a:latin typeface="Georgia"/>
              </a:rPr>
              <a:t>~70%</a:t>
            </a:r>
          </a:p>
        </p:txBody>
      </p:sp>
      <p:sp>
        <p:nvSpPr>
          <p:cNvPr id="5" name="TextBox 4"/>
          <p:cNvSpPr txBox="1"/>
          <p:nvPr/>
        </p:nvSpPr>
        <p:spPr>
          <a:xfrm>
            <a:off x="640080" y="2496312"/>
            <a:ext cx="5394960" cy="457200"/>
          </a:xfrm>
          <a:prstGeom prst="rect">
            <a:avLst/>
          </a:prstGeom>
          <a:noFill/>
        </p:spPr>
        <p:txBody>
          <a:bodyPr wrap="square">
            <a:spAutoFit/>
          </a:bodyPr>
          <a:lstStyle/>
          <a:p>
            <a:pPr algn="l"/>
            <a:r>
              <a:rPr sz="1250" b="0" i="0">
                <a:solidFill>
                  <a:srgbClr val="5C6B5A"/>
                </a:solidFill>
                <a:latin typeface="Georgia"/>
              </a:rPr>
              <a:t>of journals now have an explicit AI policy</a:t>
            </a:r>
          </a:p>
        </p:txBody>
      </p:sp>
      <p:sp>
        <p:nvSpPr>
          <p:cNvPr id="6" name="TextBox 5"/>
          <p:cNvSpPr txBox="1"/>
          <p:nvPr/>
        </p:nvSpPr>
        <p:spPr>
          <a:xfrm>
            <a:off x="6263640" y="1783080"/>
            <a:ext cx="5394960" cy="731520"/>
          </a:xfrm>
          <a:prstGeom prst="rect">
            <a:avLst/>
          </a:prstGeom>
          <a:noFill/>
        </p:spPr>
        <p:txBody>
          <a:bodyPr wrap="square">
            <a:spAutoFit/>
          </a:bodyPr>
          <a:lstStyle/>
          <a:p>
            <a:pPr algn="l"/>
            <a:r>
              <a:rPr sz="3400" b="1" i="0">
                <a:solidFill>
                  <a:srgbClr val="2C5F2D"/>
                </a:solidFill>
                <a:latin typeface="Georgia"/>
              </a:rPr>
              <a:t>~0.1%</a:t>
            </a:r>
          </a:p>
        </p:txBody>
      </p:sp>
      <p:sp>
        <p:nvSpPr>
          <p:cNvPr id="7" name="TextBox 6"/>
          <p:cNvSpPr txBox="1"/>
          <p:nvPr/>
        </p:nvSpPr>
        <p:spPr>
          <a:xfrm>
            <a:off x="6263640" y="2496312"/>
            <a:ext cx="5394960" cy="457200"/>
          </a:xfrm>
          <a:prstGeom prst="rect">
            <a:avLst/>
          </a:prstGeom>
          <a:noFill/>
        </p:spPr>
        <p:txBody>
          <a:bodyPr wrap="square">
            <a:spAutoFit/>
          </a:bodyPr>
          <a:lstStyle/>
          <a:p>
            <a:pPr algn="l"/>
            <a:r>
              <a:rPr sz="1250" b="0" i="0">
                <a:solidFill>
                  <a:srgbClr val="5C6B5A"/>
                </a:solidFill>
                <a:latin typeface="Georgia"/>
              </a:rPr>
              <a:t>of 75,000 recent papers actually disclosed AI use</a:t>
            </a:r>
          </a:p>
        </p:txBody>
      </p:sp>
      <p:sp>
        <p:nvSpPr>
          <p:cNvPr id="8" name="TextBox 7"/>
          <p:cNvSpPr txBox="1"/>
          <p:nvPr/>
        </p:nvSpPr>
        <p:spPr>
          <a:xfrm>
            <a:off x="640080" y="3154680"/>
            <a:ext cx="5394960" cy="731520"/>
          </a:xfrm>
          <a:prstGeom prst="rect">
            <a:avLst/>
          </a:prstGeom>
          <a:noFill/>
        </p:spPr>
        <p:txBody>
          <a:bodyPr wrap="square">
            <a:spAutoFit/>
          </a:bodyPr>
          <a:lstStyle/>
          <a:p>
            <a:pPr algn="l"/>
            <a:r>
              <a:rPr sz="3400" b="1" i="0">
                <a:solidFill>
                  <a:srgbClr val="B98A2D"/>
                </a:solidFill>
                <a:latin typeface="Georgia"/>
              </a:rPr>
              <a:t>1 sentence</a:t>
            </a:r>
          </a:p>
        </p:txBody>
      </p:sp>
      <p:sp>
        <p:nvSpPr>
          <p:cNvPr id="9" name="TextBox 8"/>
          <p:cNvSpPr txBox="1"/>
          <p:nvPr/>
        </p:nvSpPr>
        <p:spPr>
          <a:xfrm>
            <a:off x="640080" y="3867912"/>
            <a:ext cx="5394960" cy="457200"/>
          </a:xfrm>
          <a:prstGeom prst="rect">
            <a:avLst/>
          </a:prstGeom>
          <a:noFill/>
        </p:spPr>
        <p:txBody>
          <a:bodyPr wrap="square">
            <a:spAutoFit/>
          </a:bodyPr>
          <a:lstStyle/>
          <a:p>
            <a:pPr algn="l"/>
            <a:r>
              <a:rPr sz="1250" b="0" i="0">
                <a:solidFill>
                  <a:srgbClr val="5C6B5A"/>
                </a:solidFill>
                <a:latin typeface="Georgia"/>
              </a:rPr>
              <a:t>is what proper disclosure usually costs</a:t>
            </a:r>
          </a:p>
        </p:txBody>
      </p:sp>
      <p:sp>
        <p:nvSpPr>
          <p:cNvPr id="10" name="TextBox 9"/>
          <p:cNvSpPr txBox="1"/>
          <p:nvPr/>
        </p:nvSpPr>
        <p:spPr>
          <a:xfrm>
            <a:off x="6263640" y="3154680"/>
            <a:ext cx="5394960" cy="731520"/>
          </a:xfrm>
          <a:prstGeom prst="rect">
            <a:avLst/>
          </a:prstGeom>
          <a:noFill/>
        </p:spPr>
        <p:txBody>
          <a:bodyPr wrap="square">
            <a:spAutoFit/>
          </a:bodyPr>
          <a:lstStyle/>
          <a:p>
            <a:pPr algn="l"/>
            <a:r>
              <a:rPr sz="3400" b="1" i="0">
                <a:solidFill>
                  <a:srgbClr val="2C5F2D"/>
                </a:solidFill>
                <a:latin typeface="Georgia"/>
              </a:rPr>
              <a:t>4 rules</a:t>
            </a:r>
          </a:p>
        </p:txBody>
      </p:sp>
      <p:sp>
        <p:nvSpPr>
          <p:cNvPr id="11" name="TextBox 10"/>
          <p:cNvSpPr txBox="1"/>
          <p:nvPr/>
        </p:nvSpPr>
        <p:spPr>
          <a:xfrm>
            <a:off x="6263640" y="3867912"/>
            <a:ext cx="5394960" cy="457200"/>
          </a:xfrm>
          <a:prstGeom prst="rect">
            <a:avLst/>
          </a:prstGeom>
          <a:noFill/>
        </p:spPr>
        <p:txBody>
          <a:bodyPr wrap="square">
            <a:spAutoFit/>
          </a:bodyPr>
          <a:lstStyle/>
          <a:p>
            <a:pPr algn="l"/>
            <a:r>
              <a:rPr sz="1250" b="0" i="0">
                <a:solidFill>
                  <a:srgbClr val="5C6B5A"/>
                </a:solidFill>
                <a:latin typeface="Georgia"/>
              </a:rPr>
              <a:t>Find well. Verify well. Cite well. Disclose well.</a:t>
            </a:r>
          </a:p>
        </p:txBody>
      </p:sp>
      <p:sp>
        <p:nvSpPr>
          <p:cNvPr id="12" name="TextBox 11"/>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That gap will close, and it will close on the disclosers' terms. Be early.</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10 · THE WORKING CODE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Five lines to work by</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Verify before you rely</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Every load-bearing claim, number, and citation. You know all the checks now.</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Disclose per the venue's ACTUAL rule</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Module 8's table, checked fresh at submission.</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Guard sensitive data absolutely</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Confidential, pre-publication, human-subjects data never touches a cloud chatbot. Local and institution-hosted models exist exactly for this.</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Watch the bias</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Training data shapes answers: languages, regions, and fields are not equally represented. Ask what is missing.</a:t>
            </a:r>
          </a:p>
        </p:txBody>
      </p:sp>
      <p:sp>
        <p:nvSpPr>
          <p:cNvPr id="12" name="TextBox 11"/>
          <p:cNvSpPr txBox="1"/>
          <p:nvPr/>
        </p:nvSpPr>
        <p:spPr>
          <a:xfrm>
            <a:off x="914400" y="5440680"/>
            <a:ext cx="10881360" cy="365760"/>
          </a:xfrm>
          <a:prstGeom prst="rect">
            <a:avLst/>
          </a:prstGeom>
          <a:noFill/>
        </p:spPr>
        <p:txBody>
          <a:bodyPr wrap="square">
            <a:spAutoFit/>
          </a:bodyPr>
          <a:lstStyle/>
          <a:p>
            <a:pPr algn="l"/>
            <a:r>
              <a:rPr sz="1700" b="1" i="0">
                <a:solidFill>
                  <a:srgbClr val="1F2A20"/>
                </a:solidFill>
                <a:latin typeface="Georgia"/>
              </a:rPr>
              <a:t>◆  You remain the accountable author</a:t>
            </a:r>
          </a:p>
        </p:txBody>
      </p:sp>
      <p:sp>
        <p:nvSpPr>
          <p:cNvPr id="13" name="TextBox 12"/>
          <p:cNvSpPr txBox="1"/>
          <p:nvPr/>
        </p:nvSpPr>
        <p:spPr>
          <a:xfrm>
            <a:off x="1234440" y="5788152"/>
            <a:ext cx="10515600" cy="365760"/>
          </a:xfrm>
          <a:prstGeom prst="rect">
            <a:avLst/>
          </a:prstGeom>
          <a:noFill/>
        </p:spPr>
        <p:txBody>
          <a:bodyPr wrap="square">
            <a:spAutoFit/>
          </a:bodyPr>
          <a:lstStyle/>
          <a:p>
            <a:pPr algn="l"/>
            <a:r>
              <a:rPr sz="1350" b="0" i="0">
                <a:solidFill>
                  <a:srgbClr val="5C6B5A"/>
                </a:solidFill>
                <a:latin typeface="Georgia"/>
              </a:rPr>
              <a:t>Every instrument in this course assists. None of them signs.</a:t>
            </a:r>
          </a:p>
        </p:txBody>
      </p:sp>
      <p:sp>
        <p:nvSpPr>
          <p:cNvPr id="14" name="TextBox 13"/>
          <p:cNvSpPr txBox="1"/>
          <p:nvPr/>
        </p:nvSpPr>
        <p:spPr>
          <a:xfrm>
            <a:off x="640080" y="5989320"/>
            <a:ext cx="10881360" cy="685800"/>
          </a:xfrm>
          <a:prstGeom prst="rect">
            <a:avLst/>
          </a:prstGeom>
          <a:noFill/>
        </p:spPr>
        <p:txBody>
          <a:bodyPr wrap="square">
            <a:spAutoFit/>
          </a:bodyPr>
          <a:lstStyle/>
          <a:p>
            <a:r>
              <a:rPr sz="1250" i="1">
                <a:solidFill>
                  <a:srgbClr val="B98A2D"/>
                </a:solidFill>
                <a:latin typeface="Georgia"/>
              </a:rPr>
              <a:t>The sensitive-data line is hard. If your data could not go in an email to a stranger, it does not go in a consumer chatbot. When in doubt: local model, institutional deployment, or synthetic stand-in data.</a:t>
            </a:r>
          </a:p>
        </p:txBody>
      </p:sp>
      <p:sp>
        <p:nvSpPr>
          <p:cNvPr id="15" name="TextBox 14"/>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MODULE 10 · THE CAPSTONE</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Build your personal stack, one page</a:t>
            </a:r>
          </a:p>
        </p:txBody>
      </p:sp>
      <p:sp>
        <p:nvSpPr>
          <p:cNvPr id="4" name="TextBox 3"/>
          <p:cNvSpPr txBox="1"/>
          <p:nvPr/>
        </p:nvSpPr>
        <p:spPr>
          <a:xfrm>
            <a:off x="640080" y="1783080"/>
            <a:ext cx="3474720" cy="1371600"/>
          </a:xfrm>
          <a:prstGeom prst="rect">
            <a:avLst/>
          </a:prstGeom>
          <a:noFill/>
        </p:spPr>
        <p:txBody>
          <a:bodyPr wrap="square">
            <a:spAutoFit/>
          </a:bodyPr>
          <a:lstStyle/>
          <a:p>
            <a:r>
              <a:rPr sz="1450" b="1">
                <a:solidFill>
                  <a:srgbClr val="2C5F2D"/>
                </a:solidFill>
                <a:latin typeface="Georgia"/>
              </a:rPr>
              <a:t>1  Discover</a:t>
            </a:r>
          </a:p>
          <a:p>
            <a:r>
              <a:rPr sz="1150">
                <a:solidFill>
                  <a:srgbClr val="5C6B5A"/>
                </a:solidFill>
                <a:latin typeface="Georgia"/>
              </a:rPr>
              <a:t>Your agent + your map tool + one alert</a:t>
            </a:r>
          </a:p>
        </p:txBody>
      </p:sp>
      <p:sp>
        <p:nvSpPr>
          <p:cNvPr id="5" name="TextBox 4"/>
          <p:cNvSpPr txBox="1"/>
          <p:nvPr/>
        </p:nvSpPr>
        <p:spPr>
          <a:xfrm>
            <a:off x="4389120" y="1783080"/>
            <a:ext cx="3474720" cy="1371600"/>
          </a:xfrm>
          <a:prstGeom prst="rect">
            <a:avLst/>
          </a:prstGeom>
          <a:noFill/>
        </p:spPr>
        <p:txBody>
          <a:bodyPr wrap="square">
            <a:spAutoFit/>
          </a:bodyPr>
          <a:lstStyle/>
          <a:p>
            <a:r>
              <a:rPr sz="1450" b="1">
                <a:solidFill>
                  <a:srgbClr val="2C5F2D"/>
                </a:solidFill>
                <a:latin typeface="Georgia"/>
              </a:rPr>
              <a:t>2  Design + analyze</a:t>
            </a:r>
          </a:p>
          <a:p>
            <a:r>
              <a:rPr sz="1150">
                <a:solidFill>
                  <a:srgbClr val="5C6B5A"/>
                </a:solidFill>
                <a:latin typeface="Georgia"/>
              </a:rPr>
              <a:t>Your methods consult + your coding assistant</a:t>
            </a:r>
          </a:p>
        </p:txBody>
      </p:sp>
      <p:sp>
        <p:nvSpPr>
          <p:cNvPr id="6" name="TextBox 5"/>
          <p:cNvSpPr txBox="1"/>
          <p:nvPr/>
        </p:nvSpPr>
        <p:spPr>
          <a:xfrm>
            <a:off x="8138160" y="1783080"/>
            <a:ext cx="3474720" cy="1371600"/>
          </a:xfrm>
          <a:prstGeom prst="rect">
            <a:avLst/>
          </a:prstGeom>
          <a:noFill/>
        </p:spPr>
        <p:txBody>
          <a:bodyPr wrap="square">
            <a:spAutoFit/>
          </a:bodyPr>
          <a:lstStyle/>
          <a:p>
            <a:r>
              <a:rPr sz="1450" b="1">
                <a:solidFill>
                  <a:srgbClr val="2C5F2D"/>
                </a:solidFill>
                <a:latin typeface="Georgia"/>
              </a:rPr>
              <a:t>3  See, hear, write</a:t>
            </a:r>
          </a:p>
          <a:p>
            <a:r>
              <a:rPr sz="1150">
                <a:solidFill>
                  <a:srgbClr val="5C6B5A"/>
                </a:solidFill>
                <a:latin typeface="Georgia"/>
              </a:rPr>
              <a:t>Your vision tool, library assistant, and writing setup</a:t>
            </a:r>
          </a:p>
        </p:txBody>
      </p:sp>
      <p:sp>
        <p:nvSpPr>
          <p:cNvPr id="7" name="TextBox 6"/>
          <p:cNvSpPr txBox="1"/>
          <p:nvPr/>
        </p:nvSpPr>
        <p:spPr>
          <a:xfrm>
            <a:off x="640080" y="3264408"/>
            <a:ext cx="3474720" cy="1371600"/>
          </a:xfrm>
          <a:prstGeom prst="rect">
            <a:avLst/>
          </a:prstGeom>
          <a:noFill/>
        </p:spPr>
        <p:txBody>
          <a:bodyPr wrap="square">
            <a:spAutoFit/>
          </a:bodyPr>
          <a:lstStyle/>
          <a:p>
            <a:r>
              <a:rPr sz="1450" b="1">
                <a:solidFill>
                  <a:srgbClr val="2C5F2D"/>
                </a:solidFill>
                <a:latin typeface="Georgia"/>
              </a:rPr>
              <a:t>4  Reproduce</a:t>
            </a:r>
          </a:p>
          <a:p>
            <a:r>
              <a:rPr sz="1150">
                <a:solidFill>
                  <a:srgbClr val="5C6B5A"/>
                </a:solidFill>
                <a:latin typeface="Georgia"/>
              </a:rPr>
              <a:t>Your documentation habit + reference pipeline</a:t>
            </a:r>
          </a:p>
        </p:txBody>
      </p:sp>
      <p:sp>
        <p:nvSpPr>
          <p:cNvPr id="8" name="TextBox 7"/>
          <p:cNvSpPr txBox="1"/>
          <p:nvPr/>
        </p:nvSpPr>
        <p:spPr>
          <a:xfrm>
            <a:off x="4389120" y="3264408"/>
            <a:ext cx="3474720" cy="1371600"/>
          </a:xfrm>
          <a:prstGeom prst="rect">
            <a:avLst/>
          </a:prstGeom>
          <a:noFill/>
        </p:spPr>
        <p:txBody>
          <a:bodyPr wrap="square">
            <a:spAutoFit/>
          </a:bodyPr>
          <a:lstStyle/>
          <a:p>
            <a:r>
              <a:rPr sz="1450" b="1">
                <a:solidFill>
                  <a:srgbClr val="2C5F2D"/>
                </a:solidFill>
                <a:latin typeface="Georgia"/>
              </a:rPr>
              <a:t>5  Red lines</a:t>
            </a:r>
          </a:p>
          <a:p>
            <a:r>
              <a:rPr sz="1150">
                <a:solidFill>
                  <a:srgbClr val="5C6B5A"/>
                </a:solidFill>
                <a:latin typeface="Georgia"/>
              </a:rPr>
              <a:t>Your venue's disclosure rule + your data rules, written down</a:t>
            </a:r>
          </a:p>
        </p:txBody>
      </p:sp>
      <p:sp>
        <p:nvSpPr>
          <p:cNvPr id="9" name="TextBox 8"/>
          <p:cNvSpPr txBox="1"/>
          <p:nvPr/>
        </p:nvSpPr>
        <p:spPr>
          <a:xfrm>
            <a:off x="8138160" y="3264408"/>
            <a:ext cx="3474720" cy="1371600"/>
          </a:xfrm>
          <a:prstGeom prst="rect">
            <a:avLst/>
          </a:prstGeom>
          <a:noFill/>
        </p:spPr>
        <p:txBody>
          <a:bodyPr wrap="square">
            <a:spAutoFit/>
          </a:bodyPr>
          <a:lstStyle/>
          <a:p>
            <a:r>
              <a:rPr sz="1450" b="1">
                <a:solidFill>
                  <a:srgbClr val="2C5F2D"/>
                </a:solidFill>
                <a:latin typeface="Georgia"/>
              </a:rPr>
              <a:t>6  Free tiers marked</a:t>
            </a:r>
          </a:p>
          <a:p>
            <a:r>
              <a:rPr sz="1150">
                <a:solidFill>
                  <a:srgbClr val="5C6B5A"/>
                </a:solidFill>
                <a:latin typeface="Georgia"/>
              </a:rPr>
              <a:t>So the stack survives a $0 month</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This page is the deliverable. Tools on it will rotate; the shape of it will not. The certificate says you can pick instruments with judgment, not that you memorized this month's names.</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THE POCKET CHECKLIST</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Screenshot this</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Before you ask</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Full context, exact deliverable, format, demanded uncertainty.</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Before you trust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Load-bearing claims verified laterally; citations opened: exists, matches, says it.</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Before you run</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Code explained back, tiny test passed, transcript saved.</a:t>
            </a:r>
          </a:p>
        </p:txBody>
      </p:sp>
      <p:sp>
        <p:nvSpPr>
          <p:cNvPr id="10" name="TextBox 9"/>
          <p:cNvSpPr txBox="1"/>
          <p:nvPr/>
        </p:nvSpPr>
        <p:spPr>
          <a:xfrm>
            <a:off x="914400" y="4526280"/>
            <a:ext cx="10881360" cy="365760"/>
          </a:xfrm>
          <a:prstGeom prst="rect">
            <a:avLst/>
          </a:prstGeom>
          <a:noFill/>
        </p:spPr>
        <p:txBody>
          <a:bodyPr wrap="square">
            <a:spAutoFit/>
          </a:bodyPr>
          <a:lstStyle/>
          <a:p>
            <a:pPr algn="l"/>
            <a:r>
              <a:rPr sz="1700" b="1" i="0">
                <a:solidFill>
                  <a:srgbClr val="1F2A20"/>
                </a:solidFill>
                <a:latin typeface="Georgia"/>
              </a:rPr>
              <a:t>◆  Before you submit</a:t>
            </a:r>
          </a:p>
        </p:txBody>
      </p:sp>
      <p:sp>
        <p:nvSpPr>
          <p:cNvPr id="11" name="TextBox 10"/>
          <p:cNvSpPr txBox="1"/>
          <p:nvPr/>
        </p:nvSpPr>
        <p:spPr>
          <a:xfrm>
            <a:off x="1234440" y="4873752"/>
            <a:ext cx="10515600" cy="365760"/>
          </a:xfrm>
          <a:prstGeom prst="rect">
            <a:avLst/>
          </a:prstGeom>
          <a:noFill/>
        </p:spPr>
        <p:txBody>
          <a:bodyPr wrap="square">
            <a:spAutoFit/>
          </a:bodyPr>
          <a:lstStyle/>
          <a:p>
            <a:pPr algn="l"/>
            <a:r>
              <a:rPr sz="1350" b="0" i="0">
                <a:solidFill>
                  <a:srgbClr val="5C6B5A"/>
                </a:solidFill>
                <a:latin typeface="Georgia"/>
              </a:rPr>
              <a:t>References resolve, environment pinned, venue's AI policy checked, disclosure written.</a:t>
            </a:r>
          </a:p>
        </p:txBody>
      </p:sp>
      <p:sp>
        <p:nvSpPr>
          <p:cNvPr id="12" name="TextBox 11"/>
          <p:cNvSpPr txBox="1"/>
          <p:nvPr/>
        </p:nvSpPr>
        <p:spPr>
          <a:xfrm>
            <a:off x="914400" y="5440680"/>
            <a:ext cx="10881360" cy="365760"/>
          </a:xfrm>
          <a:prstGeom prst="rect">
            <a:avLst/>
          </a:prstGeom>
          <a:noFill/>
        </p:spPr>
        <p:txBody>
          <a:bodyPr wrap="square">
            <a:spAutoFit/>
          </a:bodyPr>
          <a:lstStyle/>
          <a:p>
            <a:pPr algn="l"/>
            <a:r>
              <a:rPr sz="1700" b="1" i="0">
                <a:solidFill>
                  <a:srgbClr val="1F2A20"/>
                </a:solidFill>
                <a:latin typeface="Georgia"/>
              </a:rPr>
              <a:t>◆  Always</a:t>
            </a:r>
          </a:p>
        </p:txBody>
      </p:sp>
      <p:sp>
        <p:nvSpPr>
          <p:cNvPr id="13" name="TextBox 12"/>
          <p:cNvSpPr txBox="1"/>
          <p:nvPr/>
        </p:nvSpPr>
        <p:spPr>
          <a:xfrm>
            <a:off x="1234440" y="5788152"/>
            <a:ext cx="10515600" cy="365760"/>
          </a:xfrm>
          <a:prstGeom prst="rect">
            <a:avLst/>
          </a:prstGeom>
          <a:noFill/>
        </p:spPr>
        <p:txBody>
          <a:bodyPr wrap="square">
            <a:spAutoFit/>
          </a:bodyPr>
          <a:lstStyle/>
          <a:p>
            <a:pPr algn="l"/>
            <a:r>
              <a:rPr sz="1350" b="0" i="0">
                <a:solidFill>
                  <a:srgbClr val="5C6B5A"/>
                </a:solidFill>
                <a:latin typeface="Georgia"/>
              </a:rPr>
              <a:t>AI supplies speed. You supply trust.</a:t>
            </a:r>
          </a:p>
        </p:txBody>
      </p:sp>
      <p:sp>
        <p:nvSpPr>
          <p:cNvPr id="14" name="TextBox 13"/>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BF7EA"/>
        </a:solidFill>
        <a:effectLst/>
      </p:bgPr>
    </p:bg>
    <p:spTree>
      <p:nvGrpSpPr>
        <p:cNvPr id="1" name=""/>
        <p:cNvGrpSpPr/>
        <p:nvPr/>
      </p:nvGrpSpPr>
      <p:grpSpPr/>
      <p:sp>
        <p:nvSpPr>
          <p:cNvPr id="2" name="TextBox 1"/>
          <p:cNvSpPr txBox="1"/>
          <p:nvPr/>
        </p:nvSpPr>
        <p:spPr>
          <a:xfrm>
            <a:off x="640080" y="384048"/>
            <a:ext cx="10972800" cy="365760"/>
          </a:xfrm>
          <a:prstGeom prst="rect">
            <a:avLst/>
          </a:prstGeom>
          <a:noFill/>
        </p:spPr>
        <p:txBody>
          <a:bodyPr wrap="square">
            <a:spAutoFit/>
          </a:bodyPr>
          <a:lstStyle/>
          <a:p>
            <a:pPr algn="l"/>
            <a:r>
              <a:rPr sz="1300" b="1" i="0">
                <a:solidFill>
                  <a:srgbClr val="6E9648"/>
                </a:solidFill>
                <a:latin typeface="Verdana"/>
              </a:rPr>
              <a:t>KEEP LEARNING</a:t>
            </a:r>
          </a:p>
        </p:txBody>
      </p:sp>
      <p:sp>
        <p:nvSpPr>
          <p:cNvPr id="3" name="TextBox 2"/>
          <p:cNvSpPr txBox="1"/>
          <p:nvPr/>
        </p:nvSpPr>
        <p:spPr>
          <a:xfrm>
            <a:off x="640080" y="749808"/>
            <a:ext cx="10972800" cy="914400"/>
          </a:xfrm>
          <a:prstGeom prst="rect">
            <a:avLst/>
          </a:prstGeom>
          <a:noFill/>
        </p:spPr>
        <p:txBody>
          <a:bodyPr wrap="square">
            <a:spAutoFit/>
          </a:bodyPr>
          <a:lstStyle/>
          <a:p>
            <a:pPr algn="l"/>
            <a:r>
              <a:rPr sz="3200" b="1" i="0">
                <a:solidFill>
                  <a:srgbClr val="1F3D24"/>
                </a:solidFill>
                <a:latin typeface="Georgia"/>
              </a:rPr>
              <a:t>Where to go deeper, all free</a:t>
            </a:r>
          </a:p>
        </p:txBody>
      </p:sp>
      <p:sp>
        <p:nvSpPr>
          <p:cNvPr id="4" name="TextBox 3"/>
          <p:cNvSpPr txBox="1"/>
          <p:nvPr/>
        </p:nvSpPr>
        <p:spPr>
          <a:xfrm>
            <a:off x="914400" y="1783080"/>
            <a:ext cx="10881360" cy="365760"/>
          </a:xfrm>
          <a:prstGeom prst="rect">
            <a:avLst/>
          </a:prstGeom>
          <a:noFill/>
        </p:spPr>
        <p:txBody>
          <a:bodyPr wrap="square">
            <a:spAutoFit/>
          </a:bodyPr>
          <a:lstStyle/>
          <a:p>
            <a:pPr algn="l"/>
            <a:r>
              <a:rPr sz="1700" b="1" i="0">
                <a:solidFill>
                  <a:srgbClr val="1F2A20"/>
                </a:solidFill>
                <a:latin typeface="Georgia"/>
              </a:rPr>
              <a:t>◆  The course resources page</a:t>
            </a:r>
          </a:p>
        </p:txBody>
      </p:sp>
      <p:sp>
        <p:nvSpPr>
          <p:cNvPr id="5" name="TextBox 4"/>
          <p:cNvSpPr txBox="1"/>
          <p:nvPr/>
        </p:nvSpPr>
        <p:spPr>
          <a:xfrm>
            <a:off x="1234440" y="2130552"/>
            <a:ext cx="10515600" cy="365760"/>
          </a:xfrm>
          <a:prstGeom prst="rect">
            <a:avLst/>
          </a:prstGeom>
          <a:noFill/>
        </p:spPr>
        <p:txBody>
          <a:bodyPr wrap="square">
            <a:spAutoFit/>
          </a:bodyPr>
          <a:lstStyle/>
          <a:p>
            <a:pPr algn="l"/>
            <a:r>
              <a:rPr sz="1350" b="0" i="0">
                <a:solidFill>
                  <a:srgbClr val="5C6B5A"/>
                </a:solidFill>
                <a:latin typeface="Georgia"/>
              </a:rPr>
              <a:t>Every tool and study from these slides, linked and dated, re-verified at release.</a:t>
            </a:r>
          </a:p>
        </p:txBody>
      </p:sp>
      <p:sp>
        <p:nvSpPr>
          <p:cNvPr id="6" name="TextBox 5"/>
          <p:cNvSpPr txBox="1"/>
          <p:nvPr/>
        </p:nvSpPr>
        <p:spPr>
          <a:xfrm>
            <a:off x="914400" y="2697480"/>
            <a:ext cx="10881360" cy="365760"/>
          </a:xfrm>
          <a:prstGeom prst="rect">
            <a:avLst/>
          </a:prstGeom>
          <a:noFill/>
        </p:spPr>
        <p:txBody>
          <a:bodyPr wrap="square">
            <a:spAutoFit/>
          </a:bodyPr>
          <a:lstStyle/>
          <a:p>
            <a:pPr algn="l"/>
            <a:r>
              <a:rPr sz="1700" b="1" i="0">
                <a:solidFill>
                  <a:srgbClr val="1F2A20"/>
                </a:solidFill>
                <a:latin typeface="Georgia"/>
              </a:rPr>
              <a:t>◆  Your own two-agent shootout</a:t>
            </a:r>
          </a:p>
        </p:txBody>
      </p:sp>
      <p:sp>
        <p:nvSpPr>
          <p:cNvPr id="7" name="TextBox 6"/>
          <p:cNvSpPr txBox="1"/>
          <p:nvPr/>
        </p:nvSpPr>
        <p:spPr>
          <a:xfrm>
            <a:off x="1234440" y="3044952"/>
            <a:ext cx="10515600" cy="365760"/>
          </a:xfrm>
          <a:prstGeom prst="rect">
            <a:avLst/>
          </a:prstGeom>
          <a:noFill/>
        </p:spPr>
        <p:txBody>
          <a:bodyPr wrap="square">
            <a:spAutoFit/>
          </a:bodyPr>
          <a:lstStyle/>
          <a:p>
            <a:pPr algn="l"/>
            <a:r>
              <a:rPr sz="1350" b="0" i="0">
                <a:solidFill>
                  <a:srgbClr val="5C6B5A"/>
                </a:solidFill>
                <a:latin typeface="Georgia"/>
              </a:rPr>
              <a:t>Module 3's try-it is the gift that keeps teaching: rerun it quarterly as tools evolve.</a:t>
            </a:r>
          </a:p>
        </p:txBody>
      </p:sp>
      <p:sp>
        <p:nvSpPr>
          <p:cNvPr id="8" name="TextBox 7"/>
          <p:cNvSpPr txBox="1"/>
          <p:nvPr/>
        </p:nvSpPr>
        <p:spPr>
          <a:xfrm>
            <a:off x="914400" y="3611880"/>
            <a:ext cx="10881360" cy="365760"/>
          </a:xfrm>
          <a:prstGeom prst="rect">
            <a:avLst/>
          </a:prstGeom>
          <a:noFill/>
        </p:spPr>
        <p:txBody>
          <a:bodyPr wrap="square">
            <a:spAutoFit/>
          </a:bodyPr>
          <a:lstStyle/>
          <a:p>
            <a:pPr algn="l"/>
            <a:r>
              <a:rPr sz="1700" b="1" i="0">
                <a:solidFill>
                  <a:srgbClr val="1F2A20"/>
                </a:solidFill>
                <a:latin typeface="Georgia"/>
              </a:rPr>
              <a:t>◆  The Academy path</a:t>
            </a:r>
          </a:p>
        </p:txBody>
      </p:sp>
      <p:sp>
        <p:nvSpPr>
          <p:cNvPr id="9" name="TextBox 8"/>
          <p:cNvSpPr txBox="1"/>
          <p:nvPr/>
        </p:nvSpPr>
        <p:spPr>
          <a:xfrm>
            <a:off x="1234440" y="3959352"/>
            <a:ext cx="10515600" cy="365760"/>
          </a:xfrm>
          <a:prstGeom prst="rect">
            <a:avLst/>
          </a:prstGeom>
          <a:noFill/>
        </p:spPr>
        <p:txBody>
          <a:bodyPr wrap="square">
            <a:spAutoFit/>
          </a:bodyPr>
          <a:lstStyle/>
          <a:p>
            <a:pPr algn="l"/>
            <a:r>
              <a:rPr sz="1350" b="0" i="0">
                <a:solidFill>
                  <a:srgbClr val="5C6B5A"/>
                </a:solidFill>
                <a:latin typeface="Georgia"/>
              </a:rPr>
              <a:t>Prompting Essentials covers the asking skill in depth; the local-models course on the roadmap covers the sensitive-data lane hands-on.</a:t>
            </a:r>
          </a:p>
        </p:txBody>
      </p:sp>
      <p:sp>
        <p:nvSpPr>
          <p:cNvPr id="10" name="TextBox 9"/>
          <p:cNvSpPr txBox="1"/>
          <p:nvPr/>
        </p:nvSpPr>
        <p:spPr>
          <a:xfrm>
            <a:off x="640080" y="5989320"/>
            <a:ext cx="10881360" cy="685800"/>
          </a:xfrm>
          <a:prstGeom prst="rect">
            <a:avLst/>
          </a:prstGeom>
          <a:noFill/>
        </p:spPr>
        <p:txBody>
          <a:bodyPr wrap="square">
            <a:spAutoFit/>
          </a:bodyPr>
          <a:lstStyle/>
          <a:p>
            <a:r>
              <a:rPr sz="1250" i="1">
                <a:solidFill>
                  <a:srgbClr val="2C5F2D"/>
                </a:solidFill>
                <a:latin typeface="Georgia"/>
              </a:rPr>
              <a:t>Everything on the resources page was verified by hand this month.</a:t>
            </a:r>
          </a:p>
        </p:txBody>
      </p:sp>
      <p:sp>
        <p:nvSpPr>
          <p:cNvPr id="11" name="TextBox 10"/>
          <p:cNvSpPr txBox="1"/>
          <p:nvPr/>
        </p:nvSpPr>
        <p:spPr>
          <a:xfrm>
            <a:off x="11292840" y="6473952"/>
            <a:ext cx="731520" cy="320040"/>
          </a:xfrm>
          <a:prstGeom prst="rect">
            <a:avLst/>
          </a:prstGeom>
          <a:noFill/>
        </p:spPr>
        <p:txBody>
          <a:bodyPr wrap="square">
            <a:spAutoFit/>
          </a:bodyPr>
          <a:lstStyle/>
          <a:p>
            <a:pPr algn="r"/>
            <a:r>
              <a:rPr sz="1000" b="0" i="0">
                <a:solidFill>
                  <a:srgbClr val="5C6B5A"/>
                </a:solidFill>
                <a:latin typeface="Verdana"/>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F3D24"/>
        </a:solidFill>
        <a:effectLst/>
      </p:bgPr>
    </p:bg>
    <p:spTree>
      <p:nvGrpSpPr>
        <p:cNvPr id="1" name=""/>
        <p:cNvGrpSpPr/>
        <p:nvPr/>
      </p:nvGrpSpPr>
      <p:grpSpPr/>
      <p:sp>
        <p:nvSpPr>
          <p:cNvPr id="2" name="TextBox 1"/>
          <p:cNvSpPr txBox="1"/>
          <p:nvPr/>
        </p:nvSpPr>
        <p:spPr>
          <a:xfrm>
            <a:off x="822960" y="822960"/>
            <a:ext cx="10515600" cy="457200"/>
          </a:xfrm>
          <a:prstGeom prst="rect">
            <a:avLst/>
          </a:prstGeom>
          <a:noFill/>
        </p:spPr>
        <p:txBody>
          <a:bodyPr wrap="square">
            <a:spAutoFit/>
          </a:bodyPr>
          <a:lstStyle/>
          <a:p>
            <a:pPr algn="l"/>
            <a:r>
              <a:rPr sz="1400" b="1" i="0">
                <a:solidFill>
                  <a:srgbClr val="97BC62"/>
                </a:solidFill>
                <a:latin typeface="Verdana"/>
              </a:rPr>
              <a:t>YOUR TURN</a:t>
            </a:r>
          </a:p>
        </p:txBody>
      </p:sp>
      <p:sp>
        <p:nvSpPr>
          <p:cNvPr id="3" name="TextBox 2"/>
          <p:cNvSpPr txBox="1"/>
          <p:nvPr/>
        </p:nvSpPr>
        <p:spPr>
          <a:xfrm>
            <a:off x="822960" y="1280160"/>
            <a:ext cx="10515600" cy="1097280"/>
          </a:xfrm>
          <a:prstGeom prst="rect">
            <a:avLst/>
          </a:prstGeom>
          <a:noFill/>
        </p:spPr>
        <p:txBody>
          <a:bodyPr wrap="square">
            <a:spAutoFit/>
          </a:bodyPr>
          <a:lstStyle/>
          <a:p>
            <a:pPr algn="l"/>
            <a:r>
              <a:rPr sz="4400" b="1" i="0">
                <a:solidFill>
                  <a:srgbClr val="FBF7EA"/>
                </a:solidFill>
                <a:latin typeface="Georgia"/>
              </a:rPr>
              <a:t>Find well. Verify well. Cite well. Disclose well.</a:t>
            </a:r>
          </a:p>
        </p:txBody>
      </p:sp>
      <p:sp>
        <p:nvSpPr>
          <p:cNvPr id="4" name="TextBox 3"/>
          <p:cNvSpPr txBox="1"/>
          <p:nvPr/>
        </p:nvSpPr>
        <p:spPr>
          <a:xfrm>
            <a:off x="914400" y="2743200"/>
            <a:ext cx="10881360" cy="365760"/>
          </a:xfrm>
          <a:prstGeom prst="rect">
            <a:avLst/>
          </a:prstGeom>
          <a:noFill/>
        </p:spPr>
        <p:txBody>
          <a:bodyPr wrap="square">
            <a:spAutoFit/>
          </a:bodyPr>
          <a:lstStyle/>
          <a:p>
            <a:pPr algn="l"/>
            <a:r>
              <a:rPr sz="1700" b="1" i="0">
                <a:solidFill>
                  <a:srgbClr val="E8F2DE"/>
                </a:solidFill>
                <a:latin typeface="Georgia"/>
              </a:rPr>
              <a:t>◆  Step 1, the lecture: done</a:t>
            </a:r>
          </a:p>
        </p:txBody>
      </p:sp>
      <p:sp>
        <p:nvSpPr>
          <p:cNvPr id="5" name="TextBox 4"/>
          <p:cNvSpPr txBox="1"/>
          <p:nvPr/>
        </p:nvSpPr>
        <p:spPr>
          <a:xfrm>
            <a:off x="1234440" y="3090672"/>
            <a:ext cx="10515600" cy="365760"/>
          </a:xfrm>
          <a:prstGeom prst="rect">
            <a:avLst/>
          </a:prstGeom>
          <a:noFill/>
        </p:spPr>
        <p:txBody>
          <a:bodyPr wrap="square">
            <a:spAutoFit/>
          </a:bodyPr>
          <a:lstStyle/>
          <a:p>
            <a:pPr algn="l"/>
            <a:r>
              <a:rPr sz="1350" b="0" i="0">
                <a:solidFill>
                  <a:srgbClr val="CFE3BF"/>
                </a:solidFill>
                <a:latin typeface="Georgia"/>
              </a:rPr>
              <a:t>You just finished all ten instruments.</a:t>
            </a:r>
          </a:p>
        </p:txBody>
      </p:sp>
      <p:sp>
        <p:nvSpPr>
          <p:cNvPr id="6" name="TextBox 5"/>
          <p:cNvSpPr txBox="1"/>
          <p:nvPr/>
        </p:nvSpPr>
        <p:spPr>
          <a:xfrm>
            <a:off x="914400" y="3657600"/>
            <a:ext cx="10881360" cy="365760"/>
          </a:xfrm>
          <a:prstGeom prst="rect">
            <a:avLst/>
          </a:prstGeom>
          <a:noFill/>
        </p:spPr>
        <p:txBody>
          <a:bodyPr wrap="square">
            <a:spAutoFit/>
          </a:bodyPr>
          <a:lstStyle/>
          <a:p>
            <a:pPr algn="l"/>
            <a:r>
              <a:rPr sz="1700" b="1" i="0">
                <a:solidFill>
                  <a:srgbClr val="E8F2DE"/>
                </a:solidFill>
                <a:latin typeface="Georgia"/>
              </a:rPr>
              <a:t>◆  Step 2: the 24 flashcards</a:t>
            </a:r>
          </a:p>
        </p:txBody>
      </p:sp>
      <p:sp>
        <p:nvSpPr>
          <p:cNvPr id="7" name="TextBox 6"/>
          <p:cNvSpPr txBox="1"/>
          <p:nvPr/>
        </p:nvSpPr>
        <p:spPr>
          <a:xfrm>
            <a:off x="1234440" y="4005072"/>
            <a:ext cx="10515600" cy="365760"/>
          </a:xfrm>
          <a:prstGeom prst="rect">
            <a:avLst/>
          </a:prstGeom>
          <a:noFill/>
        </p:spPr>
        <p:txBody>
          <a:bodyPr wrap="square">
            <a:spAutoFit/>
          </a:bodyPr>
          <a:lstStyle/>
          <a:p>
            <a:pPr algn="l"/>
            <a:r>
              <a:rPr sz="1350" b="0" i="0">
                <a:solidFill>
                  <a:srgbClr val="CFE3BF"/>
                </a:solidFill>
                <a:latin typeface="Georgia"/>
              </a:rPr>
              <a:t>Quick, and they recycle what you miss.</a:t>
            </a:r>
          </a:p>
        </p:txBody>
      </p:sp>
      <p:sp>
        <p:nvSpPr>
          <p:cNvPr id="8" name="TextBox 7"/>
          <p:cNvSpPr txBox="1"/>
          <p:nvPr/>
        </p:nvSpPr>
        <p:spPr>
          <a:xfrm>
            <a:off x="914400" y="4572000"/>
            <a:ext cx="10881360" cy="365760"/>
          </a:xfrm>
          <a:prstGeom prst="rect">
            <a:avLst/>
          </a:prstGeom>
          <a:noFill/>
        </p:spPr>
        <p:txBody>
          <a:bodyPr wrap="square">
            <a:spAutoFit/>
          </a:bodyPr>
          <a:lstStyle/>
          <a:p>
            <a:pPr algn="l"/>
            <a:r>
              <a:rPr sz="1700" b="1" i="0">
                <a:solidFill>
                  <a:srgbClr val="E8F2DE"/>
                </a:solidFill>
                <a:latin typeface="Georgia"/>
              </a:rPr>
              <a:t>◆  Step 3: win all 5 AI Lab games</a:t>
            </a:r>
          </a:p>
        </p:txBody>
      </p:sp>
      <p:sp>
        <p:nvSpPr>
          <p:cNvPr id="9" name="TextBox 8"/>
          <p:cNvSpPr txBox="1"/>
          <p:nvPr/>
        </p:nvSpPr>
        <p:spPr>
          <a:xfrm>
            <a:off x="1234440" y="4919472"/>
            <a:ext cx="10515600" cy="365760"/>
          </a:xfrm>
          <a:prstGeom prst="rect">
            <a:avLst/>
          </a:prstGeom>
          <a:noFill/>
        </p:spPr>
        <p:txBody>
          <a:bodyPr wrap="square">
            <a:spAutoFit/>
          </a:bodyPr>
          <a:lstStyle/>
          <a:p>
            <a:pPr algn="l"/>
            <a:r>
              <a:rPr sz="1350" b="0" i="0">
                <a:solidFill>
                  <a:srgbClr val="CFE3BF"/>
                </a:solidFill>
                <a:latin typeface="Georgia"/>
              </a:rPr>
              <a:t>Citation Hunt, Lateral Race, Receipts-or-Vibes, Pick Your Instrument, Prompt Surgery.</a:t>
            </a:r>
          </a:p>
        </p:txBody>
      </p:sp>
      <p:sp>
        <p:nvSpPr>
          <p:cNvPr id="10" name="TextBox 9"/>
          <p:cNvSpPr txBox="1"/>
          <p:nvPr/>
        </p:nvSpPr>
        <p:spPr>
          <a:xfrm>
            <a:off x="914400" y="5486400"/>
            <a:ext cx="10881360" cy="365760"/>
          </a:xfrm>
          <a:prstGeom prst="rect">
            <a:avLst/>
          </a:prstGeom>
          <a:noFill/>
        </p:spPr>
        <p:txBody>
          <a:bodyPr wrap="square">
            <a:spAutoFit/>
          </a:bodyPr>
          <a:lstStyle/>
          <a:p>
            <a:pPr algn="l"/>
            <a:r>
              <a:rPr sz="1700" b="1" i="0">
                <a:solidFill>
                  <a:srgbClr val="E8F2DE"/>
                </a:solidFill>
                <a:latin typeface="Georgia"/>
              </a:rPr>
              <a:t>◆  Then the quiz</a:t>
            </a:r>
          </a:p>
        </p:txBody>
      </p:sp>
      <p:sp>
        <p:nvSpPr>
          <p:cNvPr id="11" name="TextBox 10"/>
          <p:cNvSpPr txBox="1"/>
          <p:nvPr/>
        </p:nvSpPr>
        <p:spPr>
          <a:xfrm>
            <a:off x="1234440" y="5833872"/>
            <a:ext cx="10515600" cy="365760"/>
          </a:xfrm>
          <a:prstGeom prst="rect">
            <a:avLst/>
          </a:prstGeom>
          <a:noFill/>
        </p:spPr>
        <p:txBody>
          <a:bodyPr wrap="square">
            <a:spAutoFit/>
          </a:bodyPr>
          <a:lstStyle/>
          <a:p>
            <a:pPr algn="l"/>
            <a:r>
              <a:rPr sz="1350" b="0" i="0">
                <a:solidFill>
                  <a:srgbClr val="CFE3BF"/>
                </a:solidFill>
                <a:latin typeface="Georgia"/>
              </a:rPr>
              <a:t>20 questions, 14 to pass, certificate on the spot.</a:t>
            </a:r>
          </a:p>
        </p:txBody>
      </p:sp>
      <p:sp>
        <p:nvSpPr>
          <p:cNvPr id="12" name="TextBox 11"/>
          <p:cNvSpPr txBox="1"/>
          <p:nvPr/>
        </p:nvSpPr>
        <p:spPr>
          <a:xfrm>
            <a:off x="822960" y="6263640"/>
            <a:ext cx="10515600" cy="365760"/>
          </a:xfrm>
          <a:prstGeom prst="rect">
            <a:avLst/>
          </a:prstGeom>
          <a:noFill/>
        </p:spPr>
        <p:txBody>
          <a:bodyPr wrap="square">
            <a:spAutoFit/>
          </a:bodyPr>
          <a:lstStyle/>
          <a:p>
            <a:pPr algn="l"/>
            <a:r>
              <a:rPr sz="1100" b="0" i="0">
                <a:solidFill>
                  <a:srgbClr val="7FA06F"/>
                </a:solidFill>
                <a:latin typeface="Georgia"/>
              </a:rPr>
              <a:t>Cambium Academy · a new course every week · free forever, no signup</a:t>
            </a:r>
          </a:p>
        </p:txBody>
      </p:sp>
      <p:sp>
        <p:nvSpPr>
          <p:cNvPr id="13" name="TextBox 12"/>
          <p:cNvSpPr txBox="1"/>
          <p:nvPr/>
        </p:nvSpPr>
        <p:spPr>
          <a:xfrm>
            <a:off x="11292840" y="6473952"/>
            <a:ext cx="731520" cy="320040"/>
          </a:xfrm>
          <a:prstGeom prst="rect">
            <a:avLst/>
          </a:prstGeom>
          <a:noFill/>
        </p:spPr>
        <p:txBody>
          <a:bodyPr wrap="square">
            <a:spAutoFit/>
          </a:bodyPr>
          <a:lstStyle/>
          <a:p>
            <a:pPr algn="r"/>
            <a:r>
              <a:rPr sz="1000" b="0" i="0">
                <a:solidFill>
                  <a:srgbClr val="7FA06F"/>
                </a:solidFill>
                <a:latin typeface="Verdana"/>
              </a:rPr>
              <a:t>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